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9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73" r:id="rId10"/>
    <p:sldId id="263" r:id="rId11"/>
    <p:sldId id="264" r:id="rId12"/>
    <p:sldId id="274" r:id="rId13"/>
    <p:sldId id="265" r:id="rId14"/>
    <p:sldId id="266" r:id="rId15"/>
    <p:sldId id="267" r:id="rId16"/>
    <p:sldId id="268" r:id="rId17"/>
    <p:sldId id="275" r:id="rId18"/>
    <p:sldId id="276" r:id="rId19"/>
    <p:sldId id="277" r:id="rId20"/>
    <p:sldId id="269" r:id="rId21"/>
    <p:sldId id="270" r:id="rId22"/>
    <p:sldId id="279" r:id="rId23"/>
    <p:sldId id="289" r:id="rId24"/>
    <p:sldId id="290" r:id="rId25"/>
    <p:sldId id="271" r:id="rId26"/>
    <p:sldId id="272" r:id="rId27"/>
    <p:sldId id="280" r:id="rId28"/>
    <p:sldId id="281" r:id="rId29"/>
    <p:sldId id="282" r:id="rId30"/>
    <p:sldId id="283" r:id="rId31"/>
    <p:sldId id="285" r:id="rId32"/>
    <p:sldId id="286" r:id="rId33"/>
    <p:sldId id="292" r:id="rId34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gqso+muD7qxSKyk66oXGt+27nM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55" dt="2026-09-18T06:12:35.472"/>
    <p1510:client id="{58D1962C-D96E-8C29-239A-F0E438ABA756}" v="241" dt="2026-09-18T09:46:12.767"/>
    <p1510:client id="{C1689072-8B53-664B-84DE-6422DE0600D0}" v="737" dt="2026-09-17T18:35:47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39867fdc9_0_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g2039867fdc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1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39867fdc9_0_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g2039867fdc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1507656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11476134" TargetMode="External"/><Relationship Id="rId4" Type="http://schemas.openxmlformats.org/officeDocument/2006/relationships/hyperlink" Target="https://medisafe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8-021-98387-w" TargetMode="External"/><Relationship Id="rId2" Type="http://schemas.openxmlformats.org/officeDocument/2006/relationships/hyperlink" Target="https://ieeexplore.ieee.org/document/11398326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rabic calligraphy of bismillah – Royalty-Free Vector | VectorStock">
            <a:extLst>
              <a:ext uri="{FF2B5EF4-FFF2-40B4-BE49-F238E27FC236}">
                <a16:creationId xmlns:a16="http://schemas.microsoft.com/office/drawing/2014/main" id="{41FCE40A-322F-D199-A2A9-563652F301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00" b="19630"/>
          <a:stretch>
            <a:fillRect/>
          </a:stretch>
        </p:blipFill>
        <p:spPr>
          <a:xfrm>
            <a:off x="448628" y="-5080"/>
            <a:ext cx="7941964" cy="564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255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" descr="Riphah.jpg"/>
          <p:cNvPicPr preferRelativeResize="0"/>
          <p:nvPr/>
        </p:nvPicPr>
        <p:blipFill rotWithShape="1">
          <a:blip r:embed="rId4">
            <a:alphaModFix/>
          </a:blip>
          <a:srcRect l="3033" t="4065" r="6926" b="4925"/>
          <a:stretch/>
        </p:blipFill>
        <p:spPr>
          <a:xfrm>
            <a:off x="4087368" y="932688"/>
            <a:ext cx="960120" cy="126187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TextBox 86"/>
          <p:cNvSpPr txBox="1"/>
          <p:nvPr/>
        </p:nvSpPr>
        <p:spPr>
          <a:xfrm>
            <a:off x="1051560" y="2192482"/>
            <a:ext cx="7040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1D3C68"/>
                </a:solidFill>
                <a:latin typeface="Aptos"/>
              </a:rPr>
              <a:t>FINAL YEAR PROJECT PROPOSAL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65960" y="2788920"/>
            <a:ext cx="521208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5353AD"/>
                </a:solidFill>
                <a:latin typeface="Aptos"/>
              </a:rPr>
              <a:t>CareLink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3949" y="3666943"/>
            <a:ext cx="8296101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Agentic AI-Powered Medication Adherence &amp; Chronic-Care Coordination System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3794760" y="4590288"/>
            <a:ext cx="1554480" cy="0"/>
          </a:xfrm>
          <a:prstGeom prst="line">
            <a:avLst/>
          </a:prstGeom>
          <a:ln w="38100">
            <a:solidFill>
              <a:srgbClr val="535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2334848" y="4930176"/>
            <a:ext cx="4474303" cy="307777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ctr"/>
            <a:r>
              <a:rPr b="0">
                <a:solidFill>
                  <a:schemeClr val="tx1"/>
                </a:solidFill>
                <a:latin typeface="Aptos"/>
              </a:rPr>
              <a:t>Supervised By: Mr. Muhammad Usman Sharif (Lecturer)</a:t>
            </a:r>
            <a:endParaRPr lang="en-US" b="0">
              <a:solidFill>
                <a:schemeClr val="tx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1323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D3C68"/>
                </a:solidFill>
                <a:latin typeface="Aptos"/>
              </a:rPr>
              <a:t>Project Team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49808"/>
            <a:ext cx="612648" cy="0"/>
          </a:xfrm>
          <a:prstGeom prst="line">
            <a:avLst/>
          </a:prstGeom>
          <a:ln w="2794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02920" y="1508760"/>
            <a:ext cx="2487168" cy="2331720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2487168" cy="91440"/>
          </a:xfrm>
          <a:prstGeom prst="rect">
            <a:avLst/>
          </a:prstGeom>
          <a:solidFill>
            <a:srgbClr val="535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76479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5353AD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40280"/>
            <a:ext cx="21488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Siyab Ahmad Khan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5216" y="3020752"/>
            <a:ext cx="593431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55051</a:t>
            </a:r>
            <a:endParaRPr lang="en-US" sz="1200" b="1">
              <a:solidFill>
                <a:srgbClr val="64748B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46120" y="1508760"/>
            <a:ext cx="2487168" cy="2331720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46120" y="1508760"/>
            <a:ext cx="2487168" cy="91440"/>
          </a:xfrm>
          <a:prstGeom prst="rect">
            <a:avLst/>
          </a:prstGeom>
          <a:solidFill>
            <a:srgbClr val="535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10712" y="176479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5353AD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240280"/>
            <a:ext cx="21488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Saif Majid Khan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8416" y="3020752"/>
            <a:ext cx="593431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57114</a:t>
            </a:r>
            <a:endParaRPr lang="en-US" sz="1200" b="1">
              <a:solidFill>
                <a:srgbClr val="64748B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89320" y="1508760"/>
            <a:ext cx="2487168" cy="2331720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89320" y="1508760"/>
            <a:ext cx="2487168" cy="91440"/>
          </a:xfrm>
          <a:prstGeom prst="rect">
            <a:avLst/>
          </a:prstGeom>
          <a:solidFill>
            <a:srgbClr val="535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53912" y="176479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5353AD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2240280"/>
            <a:ext cx="21488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Saleem Aman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616" y="3020752"/>
            <a:ext cx="593431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53526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9000" y="5034825"/>
            <a:ext cx="3958736" cy="26930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sz="1150" b="1">
                <a:solidFill>
                  <a:schemeClr val="tx1"/>
                </a:solidFill>
                <a:latin typeface="Aptos"/>
              </a:rPr>
              <a:t>Supervised By: Mr. Muhammad Usman Sharif (Lecturer)</a:t>
            </a:r>
            <a:endParaRPr lang="en-US" sz="1150" b="1">
              <a:solidFill>
                <a:schemeClr val="tx1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67739"/>
            <a:ext cx="2207656" cy="415498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r>
              <a:rPr sz="2100" b="1">
                <a:solidFill>
                  <a:srgbClr val="1D3C68"/>
                </a:solidFill>
                <a:latin typeface="Aptos"/>
              </a:rPr>
              <a:t>Table of Content</a:t>
            </a:r>
            <a:endParaRPr lang="en-US"/>
          </a:p>
        </p:txBody>
      </p:sp>
      <p:cxnSp>
        <p:nvCxnSpPr>
          <p:cNvPr id="3" name="Connector 2"/>
          <p:cNvCxnSpPr/>
          <p:nvPr/>
        </p:nvCxnSpPr>
        <p:spPr>
          <a:xfrm>
            <a:off x="502920" y="749808"/>
            <a:ext cx="612648" cy="0"/>
          </a:xfrm>
          <a:prstGeom prst="line">
            <a:avLst/>
          </a:prstGeom>
          <a:ln w="2794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987136"/>
            <a:ext cx="411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5353AD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948067"/>
            <a:ext cx="6949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Introduction and Background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70432" y="1338765"/>
            <a:ext cx="7013447" cy="0"/>
          </a:xfrm>
          <a:prstGeom prst="line">
            <a:avLst/>
          </a:prstGeom>
          <a:ln w="8890">
            <a:solidFill>
              <a:srgbClr val="E0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1466780"/>
            <a:ext cx="411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5353AD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448492"/>
            <a:ext cx="6949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Literature Review and Summary Table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60041" y="1839191"/>
            <a:ext cx="7013447" cy="0"/>
          </a:xfrm>
          <a:prstGeom prst="line">
            <a:avLst/>
          </a:prstGeom>
          <a:ln w="8890">
            <a:solidFill>
              <a:srgbClr val="E0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1401" y="1866845"/>
            <a:ext cx="411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5353AD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0041" y="1848557"/>
            <a:ext cx="6949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Gap Analysis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70432" y="2197692"/>
            <a:ext cx="7013447" cy="0"/>
          </a:xfrm>
          <a:prstGeom prst="line">
            <a:avLst/>
          </a:prstGeom>
          <a:ln w="8890">
            <a:solidFill>
              <a:srgbClr val="E0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" y="2303406"/>
            <a:ext cx="411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5353AD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285118"/>
            <a:ext cx="6949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Problem Statement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70432" y="2603080"/>
            <a:ext cx="7013447" cy="0"/>
          </a:xfrm>
          <a:prstGeom prst="line">
            <a:avLst/>
          </a:prstGeom>
          <a:ln w="8890">
            <a:solidFill>
              <a:srgbClr val="E0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0641" y="2697642"/>
            <a:ext cx="411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5353AD"/>
                </a:solidFill>
                <a:latin typeface="Apto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9281" y="2679354"/>
            <a:ext cx="6949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Proposed Solution &amp; Methodology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70432" y="3006947"/>
            <a:ext cx="7013447" cy="0"/>
          </a:xfrm>
          <a:prstGeom prst="line">
            <a:avLst/>
          </a:prstGeom>
          <a:ln w="8890">
            <a:solidFill>
              <a:srgbClr val="E0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0641" y="3206570"/>
            <a:ext cx="328936" cy="253916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lang="en-US" sz="1050" b="1" dirty="0">
                <a:solidFill>
                  <a:srgbClr val="5353AD"/>
                </a:solidFill>
                <a:latin typeface="Aptos"/>
              </a:rPr>
              <a:t>06</a:t>
            </a:r>
            <a:endParaRPr sz="1050" b="1" dirty="0">
              <a:solidFill>
                <a:srgbClr val="5353AD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59281" y="3187335"/>
            <a:ext cx="2311851" cy="292388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r>
              <a:rPr lang="en-US" sz="1300">
                <a:solidFill>
                  <a:srgbClr val="1F2937"/>
                </a:solidFill>
                <a:latin typeface="Aptos"/>
              </a:rPr>
              <a:t>Complex Computing Problem</a:t>
            </a:r>
            <a:endParaRPr lang="en-US"/>
          </a:p>
        </p:txBody>
      </p:sp>
      <p:cxnSp>
        <p:nvCxnSpPr>
          <p:cNvPr id="21" name="Connector 20"/>
          <p:cNvCxnSpPr/>
          <p:nvPr/>
        </p:nvCxnSpPr>
        <p:spPr>
          <a:xfrm>
            <a:off x="1180592" y="4696227"/>
            <a:ext cx="7013447" cy="0"/>
          </a:xfrm>
          <a:prstGeom prst="line">
            <a:avLst/>
          </a:prstGeom>
          <a:ln w="8890">
            <a:solidFill>
              <a:srgbClr val="E0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2592" y="4984814"/>
            <a:ext cx="328936" cy="253916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lang="en-US" sz="1050" b="1" dirty="0">
                <a:solidFill>
                  <a:srgbClr val="5353AD"/>
                </a:solidFill>
                <a:latin typeface="Aptos"/>
              </a:rPr>
              <a:t>10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180592" y="4907556"/>
            <a:ext cx="6949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Work Breakdown Structure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59281" y="3531372"/>
            <a:ext cx="7013447" cy="0"/>
          </a:xfrm>
          <a:prstGeom prst="line">
            <a:avLst/>
          </a:prstGeom>
          <a:ln w="8890">
            <a:solidFill>
              <a:srgbClr val="E0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2432" y="5393108"/>
            <a:ext cx="328936" cy="253916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lang="en-US" sz="1050" b="1" dirty="0">
                <a:solidFill>
                  <a:srgbClr val="5353AD"/>
                </a:solidFill>
                <a:latin typeface="Aptos"/>
              </a:rPr>
              <a:t>11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160272" y="5336632"/>
            <a:ext cx="6949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Roles and Responsibilities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60272" y="5602132"/>
            <a:ext cx="7013447" cy="0"/>
          </a:xfrm>
          <a:prstGeom prst="line">
            <a:avLst/>
          </a:prstGeom>
          <a:ln w="8890">
            <a:solidFill>
              <a:srgbClr val="E0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78222A-0564-DA2A-96B0-FBBB2EEEACBE}"/>
              </a:ext>
            </a:extLst>
          </p:cNvPr>
          <p:cNvSpPr txBox="1"/>
          <p:nvPr/>
        </p:nvSpPr>
        <p:spPr>
          <a:xfrm>
            <a:off x="1151035" y="3608370"/>
            <a:ext cx="6949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Project Scope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D2FAD4-17D7-C707-6752-3C917980ABFA}"/>
              </a:ext>
            </a:extLst>
          </p:cNvPr>
          <p:cNvSpPr txBox="1"/>
          <p:nvPr/>
        </p:nvSpPr>
        <p:spPr>
          <a:xfrm>
            <a:off x="611630" y="3604347"/>
            <a:ext cx="328936" cy="253916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lang="en-US" sz="1050" b="1" dirty="0">
                <a:solidFill>
                  <a:srgbClr val="5353AD"/>
                </a:solidFill>
                <a:latin typeface="Aptos"/>
              </a:rPr>
              <a:t>07</a:t>
            </a:r>
            <a:endParaRPr sz="1050" b="1" dirty="0">
              <a:solidFill>
                <a:srgbClr val="5353AD"/>
              </a:solidFill>
              <a:latin typeface="Aptos"/>
            </a:endParaRPr>
          </a:p>
        </p:txBody>
      </p:sp>
      <p:cxnSp>
        <p:nvCxnSpPr>
          <p:cNvPr id="35" name="Connector 20">
            <a:extLst>
              <a:ext uri="{FF2B5EF4-FFF2-40B4-BE49-F238E27FC236}">
                <a16:creationId xmlns:a16="http://schemas.microsoft.com/office/drawing/2014/main" id="{BD8E6717-CDF3-C9DE-E3A9-23578964436E}"/>
              </a:ext>
            </a:extLst>
          </p:cNvPr>
          <p:cNvCxnSpPr>
            <a:cxnSpLocks/>
          </p:cNvCxnSpPr>
          <p:nvPr/>
        </p:nvCxnSpPr>
        <p:spPr>
          <a:xfrm>
            <a:off x="1160964" y="3896543"/>
            <a:ext cx="7013447" cy="0"/>
          </a:xfrm>
          <a:prstGeom prst="line">
            <a:avLst/>
          </a:prstGeom>
          <a:ln w="8890">
            <a:solidFill>
              <a:srgbClr val="E0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244F84E-E4E9-B0EE-8741-1AB33A85E37A}"/>
              </a:ext>
            </a:extLst>
          </p:cNvPr>
          <p:cNvSpPr txBox="1"/>
          <p:nvPr/>
        </p:nvSpPr>
        <p:spPr>
          <a:xfrm>
            <a:off x="673351" y="4513838"/>
            <a:ext cx="328936" cy="25391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lang="en-US" sz="1050" b="1" dirty="0">
                <a:solidFill>
                  <a:srgbClr val="5353AD"/>
                </a:solidFill>
                <a:latin typeface="Aptos"/>
              </a:rPr>
              <a:t>09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130507-D7D3-78F8-F922-A35D7CCA9DCF}"/>
              </a:ext>
            </a:extLst>
          </p:cNvPr>
          <p:cNvSpPr txBox="1"/>
          <p:nvPr/>
        </p:nvSpPr>
        <p:spPr>
          <a:xfrm>
            <a:off x="1141635" y="4453962"/>
            <a:ext cx="2013693" cy="292388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r>
              <a:rPr lang="en-US" sz="1300">
                <a:solidFill>
                  <a:srgbClr val="1F2937"/>
                </a:solidFill>
                <a:latin typeface="Aptos"/>
              </a:rPr>
              <a:t>Constraints &amp; Limitations</a:t>
            </a:r>
            <a:endParaRPr lang="en-US"/>
          </a:p>
        </p:txBody>
      </p:sp>
      <p:cxnSp>
        <p:nvCxnSpPr>
          <p:cNvPr id="39" name="Connector 23">
            <a:extLst>
              <a:ext uri="{FF2B5EF4-FFF2-40B4-BE49-F238E27FC236}">
                <a16:creationId xmlns:a16="http://schemas.microsoft.com/office/drawing/2014/main" id="{41C9BCA7-996F-A336-3E46-E3F5F53F1210}"/>
              </a:ext>
            </a:extLst>
          </p:cNvPr>
          <p:cNvCxnSpPr>
            <a:cxnSpLocks/>
          </p:cNvCxnSpPr>
          <p:nvPr/>
        </p:nvCxnSpPr>
        <p:spPr>
          <a:xfrm>
            <a:off x="1211995" y="5289709"/>
            <a:ext cx="7013447" cy="0"/>
          </a:xfrm>
          <a:prstGeom prst="line">
            <a:avLst/>
          </a:prstGeom>
          <a:ln w="8890">
            <a:solidFill>
              <a:srgbClr val="E0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336AD8-C8C3-F72B-7FF1-4CF841F8D5B5}"/>
              </a:ext>
            </a:extLst>
          </p:cNvPr>
          <p:cNvSpPr txBox="1"/>
          <p:nvPr/>
        </p:nvSpPr>
        <p:spPr>
          <a:xfrm>
            <a:off x="1141866" y="4015053"/>
            <a:ext cx="1200970" cy="292388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r>
              <a:rPr lang="en-US" sz="1300" dirty="0">
                <a:solidFill>
                  <a:srgbClr val="1F2937"/>
                </a:solidFill>
                <a:latin typeface="Aptos"/>
              </a:rPr>
              <a:t>Market Survey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4C52BB-9ED9-8D03-FAC4-3E4E04C91B26}"/>
              </a:ext>
            </a:extLst>
          </p:cNvPr>
          <p:cNvSpPr txBox="1"/>
          <p:nvPr/>
        </p:nvSpPr>
        <p:spPr>
          <a:xfrm>
            <a:off x="612621" y="4054608"/>
            <a:ext cx="328936" cy="253916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lang="en-US" sz="1050" b="1" dirty="0">
                <a:solidFill>
                  <a:srgbClr val="5353AD"/>
                </a:solidFill>
                <a:latin typeface="Aptos"/>
              </a:rPr>
              <a:t>08</a:t>
            </a:r>
            <a:endParaRPr sz="1050" b="1" dirty="0">
              <a:solidFill>
                <a:srgbClr val="5353AD"/>
              </a:solidFill>
              <a:latin typeface="Aptos"/>
            </a:endParaRPr>
          </a:p>
        </p:txBody>
      </p:sp>
      <p:cxnSp>
        <p:nvCxnSpPr>
          <p:cNvPr id="45" name="Connector 20">
            <a:extLst>
              <a:ext uri="{FF2B5EF4-FFF2-40B4-BE49-F238E27FC236}">
                <a16:creationId xmlns:a16="http://schemas.microsoft.com/office/drawing/2014/main" id="{26E89242-C675-80F2-386B-72A619652337}"/>
              </a:ext>
            </a:extLst>
          </p:cNvPr>
          <p:cNvCxnSpPr>
            <a:cxnSpLocks/>
          </p:cNvCxnSpPr>
          <p:nvPr/>
        </p:nvCxnSpPr>
        <p:spPr>
          <a:xfrm>
            <a:off x="1182275" y="4285844"/>
            <a:ext cx="7013447" cy="0"/>
          </a:xfrm>
          <a:prstGeom prst="line">
            <a:avLst/>
          </a:prstGeom>
          <a:ln w="8890">
            <a:solidFill>
              <a:srgbClr val="E0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77240" y="4005072"/>
            <a:ext cx="548640" cy="0"/>
          </a:xfrm>
          <a:prstGeom prst="line">
            <a:avLst/>
          </a:prstGeom>
          <a:ln w="3302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77240" y="4224528"/>
            <a:ext cx="7498079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D3C68"/>
                </a:solidFill>
                <a:latin typeface="Aptos"/>
              </a:rPr>
              <a:t>INTRODUCTION AND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42519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353AD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46888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1D3C68"/>
                </a:solidFill>
                <a:latin typeface="Aptos"/>
              </a:rPr>
              <a:t>Introduction and Background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49808"/>
            <a:ext cx="612648" cy="0"/>
          </a:xfrm>
          <a:prstGeom prst="line">
            <a:avLst/>
          </a:prstGeom>
          <a:ln w="2794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75320" y="246888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353A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C83712-45F9-89C5-232C-BB9FFC6BEA3B}"/>
              </a:ext>
            </a:extLst>
          </p:cNvPr>
          <p:cNvSpPr txBox="1"/>
          <p:nvPr/>
        </p:nvSpPr>
        <p:spPr>
          <a:xfrm>
            <a:off x="195146" y="878158"/>
            <a:ext cx="871189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Char char="•"/>
            </a:pPr>
            <a:r>
              <a:rPr lang="en-US" b="1"/>
              <a:t>Medication non-adherence is a major global health problem</a:t>
            </a:r>
            <a:r>
              <a:rPr lang="en-US"/>
              <a:t>, especially among chronic and elderly patients.</a:t>
            </a:r>
          </a:p>
          <a:p>
            <a:pPr marL="285750" indent="-285750" algn="just">
              <a:buChar char="•"/>
            </a:pPr>
            <a:endParaRPr lang="en-US"/>
          </a:p>
          <a:p>
            <a:pPr marL="285750" indent="-285750" algn="just">
              <a:buChar char="•"/>
            </a:pPr>
            <a:r>
              <a:rPr lang="en-US" b="1"/>
              <a:t>Existing solutions mainly focus on reminders</a:t>
            </a:r>
            <a:r>
              <a:rPr lang="en-US"/>
              <a:t> and do not provide deeper behavior analysis or care coordination.</a:t>
            </a:r>
          </a:p>
          <a:p>
            <a:pPr marL="285750" indent="-285750" algn="just">
              <a:buChar char="•"/>
            </a:pPr>
            <a:endParaRPr lang="en-US"/>
          </a:p>
          <a:p>
            <a:pPr marL="285750" indent="-285750" algn="just">
              <a:buChar char="•"/>
            </a:pPr>
            <a:r>
              <a:rPr lang="en-US" b="1" err="1"/>
              <a:t>CareLink</a:t>
            </a:r>
            <a:r>
              <a:rPr lang="en-US" b="1"/>
              <a:t> moves beyond reminders</a:t>
            </a:r>
            <a:r>
              <a:rPr lang="en-US"/>
              <a:t> by monitoring medication events, detecting non-adherence patterns, and coordinating appropriate support.</a:t>
            </a:r>
          </a:p>
          <a:p>
            <a:pPr marL="285750" indent="-285750" algn="just">
              <a:buChar char="•"/>
            </a:pPr>
            <a:endParaRPr lang="en-US"/>
          </a:p>
          <a:p>
            <a:pPr marL="285750" indent="-285750" algn="just">
              <a:buChar char="•"/>
            </a:pPr>
            <a:r>
              <a:rPr lang="en-US"/>
              <a:t>The system aims to </a:t>
            </a:r>
            <a:r>
              <a:rPr lang="en-US" b="1"/>
              <a:t>identify problems early</a:t>
            </a:r>
            <a:r>
              <a:rPr lang="en-US"/>
              <a:t> while keeping caregivers and healthcare providers involved.</a:t>
            </a:r>
          </a:p>
          <a:p>
            <a:pPr algn="just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77240" y="4005072"/>
            <a:ext cx="548640" cy="0"/>
          </a:xfrm>
          <a:prstGeom prst="line">
            <a:avLst/>
          </a:prstGeom>
          <a:ln w="3302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77240" y="4224528"/>
            <a:ext cx="7498079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D3C68"/>
                </a:solidFill>
                <a:latin typeface="Aptos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42519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353AD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46888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1D3C68"/>
                </a:solidFill>
                <a:latin typeface="Aptos"/>
              </a:rPr>
              <a:t>Literature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49808"/>
            <a:ext cx="612648" cy="0"/>
          </a:xfrm>
          <a:prstGeom prst="line">
            <a:avLst/>
          </a:prstGeom>
          <a:ln w="2794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75320" y="246888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353AD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BC1765-4634-80EE-2744-2C1AF9F10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222147"/>
              </p:ext>
            </p:extLst>
          </p:nvPr>
        </p:nvGraphicFramePr>
        <p:xfrm>
          <a:off x="41563" y="41563"/>
          <a:ext cx="9088667" cy="5631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8105">
                  <a:extLst>
                    <a:ext uri="{9D8B030D-6E8A-4147-A177-3AD203B41FA5}">
                      <a16:colId xmlns:a16="http://schemas.microsoft.com/office/drawing/2014/main" val="625569772"/>
                    </a:ext>
                  </a:extLst>
                </a:gridCol>
                <a:gridCol w="4142402">
                  <a:extLst>
                    <a:ext uri="{9D8B030D-6E8A-4147-A177-3AD203B41FA5}">
                      <a16:colId xmlns:a16="http://schemas.microsoft.com/office/drawing/2014/main" val="1728373796"/>
                    </a:ext>
                  </a:extLst>
                </a:gridCol>
                <a:gridCol w="2378160">
                  <a:extLst>
                    <a:ext uri="{9D8B030D-6E8A-4147-A177-3AD203B41FA5}">
                      <a16:colId xmlns:a16="http://schemas.microsoft.com/office/drawing/2014/main" val="2480854754"/>
                    </a:ext>
                  </a:extLst>
                </a:gridCol>
              </a:tblGrid>
              <a:tr h="504309">
                <a:tc>
                  <a:txBody>
                    <a:bodyPr/>
                    <a:lstStyle/>
                    <a:p>
                      <a:r>
                        <a:rPr lang="en-US" dirty="0"/>
                        <a:t>Source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Gap /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086122"/>
                  </a:ext>
                </a:extLst>
              </a:tr>
              <a:tr h="17790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hlinkClick r:id="rId3"/>
                        </a:rPr>
                        <a:t>Arul Prakash et al. (2026) – AI-Enabled Intelligent Monitoring System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sz="1200" b="0" i="0" u="none" strike="noStrike" noProof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Used AI to monitor medication use and predict adherence.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No caregiver coordination or adaptive intervention. </a:t>
                      </a:r>
                      <a:r>
                        <a:rPr lang="en-US" sz="1400" b="0" i="0" u="none" strike="noStrike" noProof="0" dirty="0" err="1">
                          <a:latin typeface="Arial"/>
                          <a:cs typeface="Arial"/>
                        </a:rPr>
                        <a:t>CareLink</a:t>
                      </a: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 adds risk-based alerts and coordinated intervention.</a:t>
                      </a:r>
                      <a:endParaRPr lang="en-US" b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282942"/>
                  </a:ext>
                </a:extLst>
              </a:tr>
              <a:tr h="156896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hlinkClick r:id="rId4"/>
                        </a:rPr>
                        <a:t>Medisafe — Existing Application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/>
                        <a:t>Provides medication reminders and adherence-support features.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/>
                        <a:t>CareLink proposes connecting adherence-pattern analysis with risk-aware responses and care-team follow-up.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945093"/>
                  </a:ext>
                </a:extLst>
              </a:tr>
              <a:tr h="17790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hlinkClick r:id="rId5"/>
                        </a:rPr>
                        <a:t>Mishra et al. (2026) – Agentic AI for Closing Gaps in Care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/>
                        <a:t>Proposed AI agents for healthcare workflow management.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/>
                        <a:t>Conceptual only and not focused on medication adherence. </a:t>
                      </a:r>
                      <a:r>
                        <a:rPr lang="en-US" sz="1400" b="0" i="0" u="none" strike="noStrike" noProof="0" dirty="0" err="1"/>
                        <a:t>CareLink</a:t>
                      </a:r>
                      <a:r>
                        <a:rPr lang="en-US" sz="1400" b="0" i="0" u="none" strike="noStrike" noProof="0" dirty="0"/>
                        <a:t> applies agents to patient–caregiver–nurse coordination.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094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CD11FC-EA93-F7CA-38AC-B0C683E88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594699"/>
              </p:ext>
            </p:extLst>
          </p:nvPr>
        </p:nvGraphicFramePr>
        <p:xfrm>
          <a:off x="10390" y="20781"/>
          <a:ext cx="9135183" cy="3318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121">
                  <a:extLst>
                    <a:ext uri="{9D8B030D-6E8A-4147-A177-3AD203B41FA5}">
                      <a16:colId xmlns:a16="http://schemas.microsoft.com/office/drawing/2014/main" val="2987238984"/>
                    </a:ext>
                  </a:extLst>
                </a:gridCol>
                <a:gridCol w="3832000">
                  <a:extLst>
                    <a:ext uri="{9D8B030D-6E8A-4147-A177-3AD203B41FA5}">
                      <a16:colId xmlns:a16="http://schemas.microsoft.com/office/drawing/2014/main" val="1446962241"/>
                    </a:ext>
                  </a:extLst>
                </a:gridCol>
                <a:gridCol w="3045062">
                  <a:extLst>
                    <a:ext uri="{9D8B030D-6E8A-4147-A177-3AD203B41FA5}">
                      <a16:colId xmlns:a16="http://schemas.microsoft.com/office/drawing/2014/main" val="4004226885"/>
                    </a:ext>
                  </a:extLst>
                </a:gridCol>
              </a:tblGrid>
              <a:tr h="432278">
                <a:tc>
                  <a:txBody>
                    <a:bodyPr/>
                    <a:lstStyle/>
                    <a:p>
                      <a:r>
                        <a:rPr lang="en-US" dirty="0"/>
                        <a:t>Source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Gap /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569718"/>
                  </a:ext>
                </a:extLst>
              </a:tr>
              <a:tr h="17284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hlinkClick r:id="rId2"/>
                        </a:rPr>
                        <a:t>Janu et al. (2025) – Impact of Mobile Applications &amp; Technology on Medical Adherence</a:t>
                      </a: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/>
                        <a:t>Used ML to predict medication adherence.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/>
                        <a:t>Prediction only; no intervention or caregiver workflow. </a:t>
                      </a:r>
                      <a:r>
                        <a:rPr lang="en-US" sz="1400" b="0" i="0" u="none" strike="noStrike" noProof="0" dirty="0" err="1"/>
                        <a:t>CareLink</a:t>
                      </a:r>
                      <a:r>
                        <a:rPr lang="en-US" sz="1400" b="0" i="0" u="none" strike="noStrike" noProof="0" dirty="0"/>
                        <a:t> connects prediction with intervention.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367976"/>
                  </a:ext>
                </a:extLst>
              </a:tr>
              <a:tr h="4322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hlinkClick r:id="rId3"/>
                        </a:rPr>
                        <a:t>Gu et al. (2021) – Predicting Medication Adherence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/>
                        <a:t>Used ML/deep learning to predict medication adherence.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/>
                        <a:t>Focused on injectable medicines and prediction only. </a:t>
                      </a:r>
                      <a:r>
                        <a:rPr lang="en-US" sz="1400" b="0" i="0" u="none" strike="noStrike" noProof="0" dirty="0" err="1"/>
                        <a:t>CareLink</a:t>
                      </a:r>
                      <a:r>
                        <a:rPr lang="en-US" sz="1400" b="0" i="0" u="none" strike="noStrike" noProof="0" dirty="0"/>
                        <a:t> supports broader medication adherence and risk-based coordination.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2073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91489CD-68C1-E5E8-D107-709C75560845}"/>
              </a:ext>
            </a:extLst>
          </p:cNvPr>
          <p:cNvSpPr txBox="1"/>
          <p:nvPr/>
        </p:nvSpPr>
        <p:spPr>
          <a:xfrm>
            <a:off x="14446" y="4204515"/>
            <a:ext cx="900410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/>
              <a:t>Existing applications support medication reminders and adherence tracking, while research has explored AI-based adherence prediction. </a:t>
            </a:r>
            <a:r>
              <a:rPr lang="en-US" dirty="0" err="1"/>
              <a:t>CareLink</a:t>
            </a:r>
            <a:r>
              <a:rPr lang="en-US" dirty="0"/>
              <a:t> will investigate how adherence analysis can be connected to appropriate interventions and human-supervised care coordination.</a:t>
            </a:r>
          </a:p>
        </p:txBody>
      </p:sp>
    </p:spTree>
    <p:extLst>
      <p:ext uri="{BB962C8B-B14F-4D97-AF65-F5344CB8AC3E}">
        <p14:creationId xmlns:p14="http://schemas.microsoft.com/office/powerpoint/2010/main" val="931241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77240" y="4005072"/>
            <a:ext cx="548640" cy="0"/>
          </a:xfrm>
          <a:prstGeom prst="line">
            <a:avLst/>
          </a:prstGeom>
          <a:ln w="3302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77240" y="4224528"/>
            <a:ext cx="7498079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D3C68"/>
                </a:solidFill>
                <a:latin typeface="Aptos"/>
              </a:rPr>
              <a:t>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42519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353AD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46888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1D3C68"/>
                </a:solidFill>
                <a:latin typeface="Aptos"/>
              </a:rPr>
              <a:t>Gap Analysis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49808"/>
            <a:ext cx="612648" cy="0"/>
          </a:xfrm>
          <a:prstGeom prst="line">
            <a:avLst/>
          </a:prstGeom>
          <a:ln w="2794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75320" y="246888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353AD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886200" cy="4069080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6158" y="1325880"/>
            <a:ext cx="3927762" cy="4069080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62EDE-530D-31E2-54B9-82C7436D27CB}"/>
              </a:ext>
            </a:extLst>
          </p:cNvPr>
          <p:cNvSpPr txBox="1"/>
          <p:nvPr/>
        </p:nvSpPr>
        <p:spPr>
          <a:xfrm>
            <a:off x="418170" y="850280"/>
            <a:ext cx="82379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Compared to current solutions, </a:t>
            </a:r>
            <a:r>
              <a:rPr lang="en-US" b="1" err="1"/>
              <a:t>CareLink</a:t>
            </a:r>
            <a:r>
              <a:rPr lang="en-US" b="1"/>
              <a:t> </a:t>
            </a:r>
            <a:r>
              <a:rPr lang="en-US"/>
              <a:t>fills several gaps..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30DC9-AA46-FE12-B7B7-FEFBC4919C1D}"/>
              </a:ext>
            </a:extLst>
          </p:cNvPr>
          <p:cNvSpPr txBox="1"/>
          <p:nvPr/>
        </p:nvSpPr>
        <p:spPr>
          <a:xfrm>
            <a:off x="808463" y="1477536"/>
            <a:ext cx="328986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/>
              <a:t>Beyond reminders</a:t>
            </a:r>
            <a:r>
              <a:rPr lang="en-US" dirty="0"/>
              <a:t>:</a:t>
            </a:r>
          </a:p>
          <a:p>
            <a:pPr algn="just"/>
            <a:endParaRPr lang="en-US"/>
          </a:p>
          <a:p>
            <a:pPr algn="just"/>
            <a:r>
              <a:rPr lang="en-US" dirty="0" err="1"/>
              <a:t>CareLink</a:t>
            </a:r>
            <a:r>
              <a:rPr lang="en-US" dirty="0"/>
              <a:t> aims to analyze adherence patterns over time and distinguish occasional missed doses from developing concerns.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2115E3-3EA8-E75B-DFCD-FD7F1FB2E204}"/>
              </a:ext>
            </a:extLst>
          </p:cNvPr>
          <p:cNvSpPr txBox="1"/>
          <p:nvPr/>
        </p:nvSpPr>
        <p:spPr>
          <a:xfrm>
            <a:off x="4934414" y="1519353"/>
            <a:ext cx="3345365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/>
              <a:t>Care coordination:</a:t>
            </a:r>
            <a:endParaRPr lang="en-US" dirty="0"/>
          </a:p>
          <a:p>
            <a:pPr algn="just"/>
            <a:endParaRPr lang="en-US" b="1"/>
          </a:p>
          <a:p>
            <a:pPr algn="just"/>
            <a:r>
              <a:rPr lang="en-US" dirty="0"/>
              <a:t>When appropriate, the system will support follow-up by a caregiver or care coordinator, with relevant context.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5C910DAE-F379-26F6-A70A-3A3A7C771E6C}"/>
              </a:ext>
            </a:extLst>
          </p:cNvPr>
          <p:cNvSpPr/>
          <p:nvPr/>
        </p:nvSpPr>
        <p:spPr>
          <a:xfrm>
            <a:off x="6276041" y="179416"/>
            <a:ext cx="2447693" cy="2676698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71919E57-6AAE-4DF7-E418-75A7E61F02AD}"/>
              </a:ext>
            </a:extLst>
          </p:cNvPr>
          <p:cNvSpPr/>
          <p:nvPr/>
        </p:nvSpPr>
        <p:spPr>
          <a:xfrm>
            <a:off x="468283" y="179415"/>
            <a:ext cx="2436542" cy="2677458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430304-CDD4-0F9C-DA8C-53161B8AC2B6}"/>
              </a:ext>
            </a:extLst>
          </p:cNvPr>
          <p:cNvSpPr txBox="1"/>
          <p:nvPr/>
        </p:nvSpPr>
        <p:spPr>
          <a:xfrm>
            <a:off x="719254" y="404231"/>
            <a:ext cx="2062975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Explainability &amp; safety:</a:t>
            </a:r>
          </a:p>
          <a:p>
            <a:endParaRPr lang="en-US" b="1"/>
          </a:p>
          <a:p>
            <a:r>
              <a:rPr lang="en-US" dirty="0" err="1"/>
              <a:t>CareLink</a:t>
            </a:r>
            <a:r>
              <a:rPr lang="en-US" dirty="0"/>
              <a:t> aims to show why an alert was generated and keep treatment changes under human control.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75DFEE-7501-54D2-4B8F-22002DB0C2CA}"/>
              </a:ext>
            </a:extLst>
          </p:cNvPr>
          <p:cNvSpPr txBox="1"/>
          <p:nvPr/>
        </p:nvSpPr>
        <p:spPr>
          <a:xfrm>
            <a:off x="6453768" y="404231"/>
            <a:ext cx="210479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Local context &amp; language:</a:t>
            </a:r>
          </a:p>
          <a:p>
            <a:endParaRPr lang="en-US" b="1"/>
          </a:p>
          <a:p>
            <a:r>
              <a:rPr lang="en-US" dirty="0" err="1"/>
              <a:t>CareLink</a:t>
            </a:r>
            <a:r>
              <a:rPr lang="en-US" dirty="0"/>
              <a:t> will support English and Urdu. This ensures greater accessibility in our target region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F0C6006C-3FB9-02EB-3B73-6C89A2A25D5C}"/>
              </a:ext>
            </a:extLst>
          </p:cNvPr>
          <p:cNvSpPr/>
          <p:nvPr/>
        </p:nvSpPr>
        <p:spPr>
          <a:xfrm>
            <a:off x="468283" y="3053135"/>
            <a:ext cx="8266601" cy="1323347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71FBED-431E-0BE3-7ACD-8BCB0FCD7711}"/>
              </a:ext>
            </a:extLst>
          </p:cNvPr>
          <p:cNvSpPr txBox="1"/>
          <p:nvPr/>
        </p:nvSpPr>
        <p:spPr>
          <a:xfrm>
            <a:off x="700499" y="3240949"/>
            <a:ext cx="772221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Research Focus:</a:t>
            </a:r>
            <a:endParaRPr lang="en-US" dirty="0"/>
          </a:p>
          <a:p>
            <a:endParaRPr lang="en-US" b="1"/>
          </a:p>
          <a:p>
            <a:r>
              <a:rPr lang="en-US" dirty="0" err="1"/>
              <a:t>CareLink</a:t>
            </a:r>
            <a:r>
              <a:rPr lang="en-US" dirty="0"/>
              <a:t> will investigate the connection between adherence evidence, risk assessment, intervention selection, and human-supervised follow-up.</a:t>
            </a:r>
          </a:p>
        </p:txBody>
      </p:sp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CAA9C2C0-016F-5302-B7B4-5F05B97C3A6B}"/>
              </a:ext>
            </a:extLst>
          </p:cNvPr>
          <p:cNvSpPr/>
          <p:nvPr/>
        </p:nvSpPr>
        <p:spPr>
          <a:xfrm>
            <a:off x="3345297" y="179414"/>
            <a:ext cx="2436542" cy="2677458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B4DE71-E6EC-291F-1AD5-52F304862A17}"/>
              </a:ext>
            </a:extLst>
          </p:cNvPr>
          <p:cNvSpPr txBox="1"/>
          <p:nvPr/>
        </p:nvSpPr>
        <p:spPr>
          <a:xfrm>
            <a:off x="3540512" y="504591"/>
            <a:ext cx="206297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Human Oversight: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Caregivers or care coordinators remain involved when follow-up is needed.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8D90B72E-A3EB-4ED7-8A38-4D5BD58916BA}"/>
              </a:ext>
            </a:extLst>
          </p:cNvPr>
          <p:cNvSpPr/>
          <p:nvPr/>
        </p:nvSpPr>
        <p:spPr>
          <a:xfrm>
            <a:off x="457130" y="4547397"/>
            <a:ext cx="8288904" cy="1323347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A993E-9974-CDF8-D0E0-12F2F475BCC3}"/>
              </a:ext>
            </a:extLst>
          </p:cNvPr>
          <p:cNvSpPr txBox="1"/>
          <p:nvPr/>
        </p:nvSpPr>
        <p:spPr>
          <a:xfrm>
            <a:off x="745103" y="4735212"/>
            <a:ext cx="772221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Integration of data:</a:t>
            </a:r>
          </a:p>
          <a:p>
            <a:endParaRPr lang="en-US" b="1"/>
          </a:p>
          <a:p>
            <a:r>
              <a:rPr lang="en-US"/>
              <a:t>We plan optional use of wearable data (heart rate) and prescription OCR, which few apps do. But this remains optional given hardware/API limits. </a:t>
            </a:r>
          </a:p>
        </p:txBody>
      </p:sp>
    </p:spTree>
    <p:extLst>
      <p:ext uri="{BB962C8B-B14F-4D97-AF65-F5344CB8AC3E}">
        <p14:creationId xmlns:p14="http://schemas.microsoft.com/office/powerpoint/2010/main" val="2429532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77240" y="4005072"/>
            <a:ext cx="548640" cy="0"/>
          </a:xfrm>
          <a:prstGeom prst="line">
            <a:avLst/>
          </a:prstGeom>
          <a:ln w="3302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77240" y="4224528"/>
            <a:ext cx="7498079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D3C68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42519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353AD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46888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1D3C68"/>
                </a:solidFill>
                <a:latin typeface="Aptos"/>
              </a:rPr>
              <a:t>Problem Statement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49808"/>
            <a:ext cx="612648" cy="0"/>
          </a:xfrm>
          <a:prstGeom prst="line">
            <a:avLst/>
          </a:prstGeom>
          <a:ln w="2794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75320" y="246888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353AD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12421"/>
            <a:ext cx="8001000" cy="1527011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BE089-2C6D-808A-A1AB-F38B969E668D}"/>
              </a:ext>
            </a:extLst>
          </p:cNvPr>
          <p:cNvSpPr txBox="1"/>
          <p:nvPr/>
        </p:nvSpPr>
        <p:spPr>
          <a:xfrm>
            <a:off x="404231" y="919975"/>
            <a:ext cx="80149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Medication adherence can change over time, while fixed reminders may not identify when a patient needs additional support.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F39A6-24FB-68B9-09E0-097C9F2B817D}"/>
              </a:ext>
            </a:extLst>
          </p:cNvPr>
          <p:cNvSpPr txBox="1"/>
          <p:nvPr/>
        </p:nvSpPr>
        <p:spPr>
          <a:xfrm>
            <a:off x="669073" y="2189187"/>
            <a:ext cx="773235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How can we analyze medication-taking behavior, assess adherence risk, and coordinate an appropriate response while protecting privacy and keeping people involved?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5A7C1-2B12-1368-1741-692E9688D71E}"/>
              </a:ext>
            </a:extLst>
          </p:cNvPr>
          <p:cNvSpPr txBox="1"/>
          <p:nvPr/>
        </p:nvSpPr>
        <p:spPr>
          <a:xfrm>
            <a:off x="502311" y="3721719"/>
            <a:ext cx="783373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 err="1"/>
              <a:t>CareLink</a:t>
            </a:r>
            <a:r>
              <a:rPr lang="en-US" dirty="0"/>
              <a:t> proposes an AI-assisted workflow for risk-aware reminders and caregiver or care-coordinator follow-up. It will not change prescriptions.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77240" y="4005072"/>
            <a:ext cx="548640" cy="0"/>
          </a:xfrm>
          <a:prstGeom prst="line">
            <a:avLst/>
          </a:prstGeom>
          <a:ln w="3302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77240" y="4224528"/>
            <a:ext cx="7498079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D3C68"/>
                </a:solidFill>
                <a:latin typeface="Aptos"/>
              </a:rPr>
              <a:t>PROPOSED SOLUTION AND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42519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353AD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46888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1D3C68"/>
                </a:solidFill>
                <a:latin typeface="Aptos"/>
              </a:rPr>
              <a:t>Proposed Solution and Methodology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49808"/>
            <a:ext cx="612648" cy="0"/>
          </a:xfrm>
          <a:prstGeom prst="line">
            <a:avLst/>
          </a:prstGeom>
          <a:ln w="2794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75320" y="246888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353AD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3426" y="1545408"/>
            <a:ext cx="8002015" cy="3660183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CAF05F-A048-C800-9AED-2F3EEC091615}"/>
              </a:ext>
            </a:extLst>
          </p:cNvPr>
          <p:cNvSpPr txBox="1"/>
          <p:nvPr/>
        </p:nvSpPr>
        <p:spPr>
          <a:xfrm>
            <a:off x="501804" y="805676"/>
            <a:ext cx="813329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/>
              <a:t>CareLink</a:t>
            </a:r>
            <a:r>
              <a:rPr lang="en-US" sz="1600" dirty="0"/>
              <a:t> is proposed as a app and web based care-coordination platform.: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1B1C68-C892-215F-76A3-7DDCEB80C78B}"/>
              </a:ext>
            </a:extLst>
          </p:cNvPr>
          <p:cNvSpPr txBox="1"/>
          <p:nvPr/>
        </p:nvSpPr>
        <p:spPr>
          <a:xfrm>
            <a:off x="808969" y="1918517"/>
            <a:ext cx="7342571" cy="30162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Core components:</a:t>
            </a:r>
          </a:p>
          <a:p>
            <a:endParaRPr lang="en-US" sz="1600" b="1" dirty="0"/>
          </a:p>
          <a:p>
            <a:pPr marL="285750" indent="-285750">
              <a:buChar char="•"/>
            </a:pPr>
            <a:r>
              <a:rPr lang="en-US" sz="1600" dirty="0"/>
              <a:t>Patient and medication records</a:t>
            </a:r>
          </a:p>
          <a:p>
            <a:endParaRPr lang="en-US" sz="1600" dirty="0"/>
          </a:p>
          <a:p>
            <a:pPr marL="285750" indent="-285750">
              <a:buChar char="•"/>
            </a:pPr>
            <a:r>
              <a:rPr lang="en-US" sz="1600" dirty="0"/>
              <a:t>Medication intake and missed-dose logging</a:t>
            </a:r>
          </a:p>
          <a:p>
            <a:endParaRPr lang="en-US" sz="1600" dirty="0"/>
          </a:p>
          <a:p>
            <a:pPr marL="285750" indent="-285750">
              <a:buChar char="•"/>
            </a:pPr>
            <a:r>
              <a:rPr lang="en-US" sz="1600" dirty="0"/>
              <a:t>Adherence-pattern analysis and risk assessment</a:t>
            </a:r>
          </a:p>
          <a:p>
            <a:endParaRPr lang="en-US" sz="1600" dirty="0"/>
          </a:p>
          <a:p>
            <a:pPr marL="285750" indent="-285750">
              <a:buChar char="•"/>
            </a:pPr>
            <a:r>
              <a:rPr lang="en-US" sz="1600" dirty="0"/>
              <a:t>Intervention selection and notifications</a:t>
            </a:r>
          </a:p>
          <a:p>
            <a:endParaRPr lang="en-US" sz="1600" dirty="0"/>
          </a:p>
          <a:p>
            <a:pPr marL="285750" indent="-285750">
              <a:buChar char="•"/>
            </a:pPr>
            <a:r>
              <a:rPr lang="en-US" sz="1600" dirty="0"/>
              <a:t>Caregiver / care-coordinator dashboard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21A47987-DC1E-F200-260A-CAD03FBF2DEE}"/>
              </a:ext>
            </a:extLst>
          </p:cNvPr>
          <p:cNvSpPr/>
          <p:nvPr/>
        </p:nvSpPr>
        <p:spPr>
          <a:xfrm>
            <a:off x="201583" y="3156760"/>
            <a:ext cx="8749145" cy="2121822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37187-EDAD-C971-80DC-248A704AE2D6}"/>
              </a:ext>
            </a:extLst>
          </p:cNvPr>
          <p:cNvSpPr txBox="1"/>
          <p:nvPr/>
        </p:nvSpPr>
        <p:spPr>
          <a:xfrm>
            <a:off x="404231" y="3541019"/>
            <a:ext cx="837735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/>
              <a:t>Methodology:</a:t>
            </a:r>
            <a:r>
              <a:rPr lang="en-US" dirty="0"/>
              <a:t>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Build the core workflow, test it using simulated adherence scenarios, refine the rules and interface, and evaluate alert quality and workflow behavior.</a:t>
            </a:r>
            <a:endParaRPr lang="en-US"/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932110C3-C313-42D0-A8CD-1A4D73AE1C84}"/>
              </a:ext>
            </a:extLst>
          </p:cNvPr>
          <p:cNvSpPr/>
          <p:nvPr/>
        </p:nvSpPr>
        <p:spPr>
          <a:xfrm>
            <a:off x="235036" y="525071"/>
            <a:ext cx="8749145" cy="2121822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7F092C-0C92-B134-8A0C-E584E66A1F38}"/>
              </a:ext>
            </a:extLst>
          </p:cNvPr>
          <p:cNvSpPr txBox="1"/>
          <p:nvPr/>
        </p:nvSpPr>
        <p:spPr>
          <a:xfrm>
            <a:off x="437684" y="909330"/>
            <a:ext cx="8377353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/>
              <a:t>Safety &amp; Explainability:</a:t>
            </a:r>
            <a:endParaRPr lang="en-US" b="1"/>
          </a:p>
          <a:p>
            <a:pPr algn="just"/>
            <a:endParaRPr lang="en-US" b="1" dirty="0"/>
          </a:p>
          <a:p>
            <a:pPr algn="just"/>
            <a:r>
              <a:rPr lang="en-US" dirty="0" err="1"/>
              <a:t>CareLink</a:t>
            </a:r>
            <a:r>
              <a:rPr lang="en-US" dirty="0"/>
              <a:t> will record reasons for alerts. AI will not change prescriptions or intake records without human action.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29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or 1">
            <a:extLst>
              <a:ext uri="{FF2B5EF4-FFF2-40B4-BE49-F238E27FC236}">
                <a16:creationId xmlns:a16="http://schemas.microsoft.com/office/drawing/2014/main" id="{60005497-56B2-1583-7941-7B016A5187A5}"/>
              </a:ext>
            </a:extLst>
          </p:cNvPr>
          <p:cNvCxnSpPr/>
          <p:nvPr/>
        </p:nvCxnSpPr>
        <p:spPr>
          <a:xfrm>
            <a:off x="777240" y="4005072"/>
            <a:ext cx="548640" cy="0"/>
          </a:xfrm>
          <a:prstGeom prst="line">
            <a:avLst/>
          </a:prstGeom>
          <a:ln w="3302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A13759-3775-73EF-A389-DC2E0A657A2B}"/>
              </a:ext>
            </a:extLst>
          </p:cNvPr>
          <p:cNvSpPr txBox="1"/>
          <p:nvPr/>
        </p:nvSpPr>
        <p:spPr>
          <a:xfrm>
            <a:off x="777240" y="4338268"/>
            <a:ext cx="4155305" cy="430887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r>
              <a:rPr lang="en-US" sz="2200" b="1">
                <a:solidFill>
                  <a:srgbClr val="1D3C68"/>
                </a:solidFill>
              </a:rPr>
              <a:t>Complex Computing Problem</a:t>
            </a:r>
            <a:endParaRPr lang="en-US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9D24D5-AB63-9296-6051-974DE4E4A526}"/>
              </a:ext>
            </a:extLst>
          </p:cNvPr>
          <p:cNvSpPr txBox="1"/>
          <p:nvPr/>
        </p:nvSpPr>
        <p:spPr>
          <a:xfrm>
            <a:off x="7998516" y="4311729"/>
            <a:ext cx="322524" cy="246221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r"/>
            <a:r>
              <a:rPr lang="en-US" sz="1000" b="1" dirty="0">
                <a:solidFill>
                  <a:srgbClr val="5353AD"/>
                </a:solidFill>
                <a:latin typeface="Aptos"/>
              </a:rPr>
              <a:t>06</a:t>
            </a:r>
            <a:endParaRPr sz="1000" b="1" dirty="0">
              <a:solidFill>
                <a:srgbClr val="5353AD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398A03-0D3A-E414-3E44-0E4557DE9B0F}"/>
              </a:ext>
            </a:extLst>
          </p:cNvPr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93839E-8F78-948D-D412-3991FB3D35A5}"/>
              </a:ext>
            </a:extLst>
          </p:cNvPr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253299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714330B-8C26-15ED-9D18-39BC70D2BEA6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>
                <a:solidFill>
                  <a:srgbClr val="193B69"/>
                </a:solidFill>
                <a:latin typeface="Arial"/>
                <a:ea typeface="Arial" pitchFamily="34" charset="-122"/>
                <a:cs typeface="Arial"/>
              </a:rPr>
              <a:t>Complex Computing Problem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5A84FE9-04D0-3C7F-1D9B-DADF20911E5D}"/>
              </a:ext>
            </a:extLst>
          </p:cNvPr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 dirty="0" err="1">
                <a:solidFill>
                  <a:srgbClr val="555555"/>
                </a:solidFill>
                <a:ea typeface="+mn-lt"/>
                <a:cs typeface="+mn-lt"/>
              </a:rPr>
              <a:t>CareLink’s</a:t>
            </a:r>
            <a:r>
              <a:rPr lang="en-US" sz="1250" dirty="0">
                <a:solidFill>
                  <a:srgbClr val="555555"/>
                </a:solidFill>
                <a:ea typeface="+mn-lt"/>
                <a:cs typeface="+mn-lt"/>
              </a:rPr>
              <a:t> complexity comes from analyzing uncertain adherence behavior, connecting dependent system components, and balancing patient privacy with useful care-team information.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F23F32-D55B-10D3-BE3B-E300E9C32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004951"/>
              </p:ext>
            </p:extLst>
          </p:nvPr>
        </p:nvGraphicFramePr>
        <p:xfrm>
          <a:off x="457200" y="1393902"/>
          <a:ext cx="8220075" cy="42652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09775">
                  <a:extLst>
                    <a:ext uri="{9D8B030D-6E8A-4147-A177-3AD203B41FA5}">
                      <a16:colId xmlns:a16="http://schemas.microsoft.com/office/drawing/2014/main" val="2214799003"/>
                    </a:ext>
                  </a:extLst>
                </a:gridCol>
                <a:gridCol w="6210300">
                  <a:extLst>
                    <a:ext uri="{9D8B030D-6E8A-4147-A177-3AD203B41FA5}">
                      <a16:colId xmlns:a16="http://schemas.microsoft.com/office/drawing/2014/main" val="1326254479"/>
                    </a:ext>
                  </a:extLst>
                </a:gridCol>
              </a:tblGrid>
              <a:tr h="106630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Attribute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B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FFFFFF"/>
                          </a:solidFill>
                          <a:effectLst/>
                        </a:rPr>
                        <a:t>How</a:t>
                      </a:r>
                      <a:r>
                        <a:rPr lang="en-US" sz="1000" b="0" i="0" u="none" strike="noStrike" noProof="0" dirty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FFFFFF"/>
                          </a:solidFill>
                          <a:effectLst/>
                        </a:rPr>
                        <a:t>CareLink</a:t>
                      </a:r>
                      <a:r>
                        <a:rPr lang="en-US" sz="1000" b="1" i="0" u="none" strike="noStrike" noProof="0" dirty="0">
                          <a:solidFill>
                            <a:srgbClr val="FFFFFF"/>
                          </a:solidFill>
                          <a:effectLst/>
                        </a:rPr>
                        <a:t> Achieves It</a:t>
                      </a:r>
                      <a:endParaRPr lang="en-US" sz="1000" u="none" strike="noStrike" noProof="0" dirty="0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B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082425"/>
                  </a:ext>
                </a:extLst>
              </a:tr>
              <a:tr h="106630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Depth of Analysis</a:t>
                      </a:r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Adherence behavior is not fully predictable. The team must analyze medication-event patterns, assess risk, and test the approach.</a:t>
                      </a:r>
                      <a:endParaRPr lang="en-US" dirty="0">
                        <a:latin typeface="Arial"/>
                        <a:cs typeface="Arial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233218"/>
                  </a:ext>
                </a:extLst>
              </a:tr>
              <a:tr h="106630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Interdependence</a:t>
                      </a:r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Medication records feed adherence analysis; risk assessment informs interventions; outcomes provide new data. Errors can affect later steps.</a:t>
                      </a:r>
                      <a:endParaRPr lang="en-US" dirty="0">
                        <a:latin typeface="Arial"/>
                        <a:cs typeface="Arial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969040"/>
                  </a:ext>
                </a:extLst>
              </a:tr>
              <a:tr h="106630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Conflicting Requirements</a:t>
                      </a:r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Patients need simple, private interactions, while caregivers need enough information to follow up. The system must balance privacy with useful alerts.</a:t>
                      </a:r>
                      <a:endParaRPr lang="en-US" dirty="0">
                        <a:latin typeface="Arial"/>
                        <a:cs typeface="Arial"/>
                      </a:endParaRPr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01982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4AFBABF-7209-A5BE-519D-BBCC2546D9A9}"/>
              </a:ext>
            </a:extLst>
          </p:cNvPr>
          <p:cNvSpPr txBox="1"/>
          <p:nvPr/>
        </p:nvSpPr>
        <p:spPr>
          <a:xfrm>
            <a:off x="8362198" y="332011"/>
            <a:ext cx="322524" cy="246221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r"/>
            <a:r>
              <a:rPr lang="en-US" sz="1000" b="1" dirty="0">
                <a:solidFill>
                  <a:srgbClr val="5353AD"/>
                </a:solidFill>
                <a:latin typeface="Aptos"/>
              </a:rPr>
              <a:t>06</a:t>
            </a:r>
            <a:endParaRPr sz="1000" b="1" dirty="0">
              <a:solidFill>
                <a:srgbClr val="5353A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23188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77240" y="4005072"/>
            <a:ext cx="548640" cy="0"/>
          </a:xfrm>
          <a:prstGeom prst="line">
            <a:avLst/>
          </a:prstGeom>
          <a:ln w="3302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77240" y="4224528"/>
            <a:ext cx="7498079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D3C68"/>
                </a:solidFill>
                <a:latin typeface="Aptos"/>
              </a:rPr>
              <a:t>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4311729"/>
            <a:ext cx="514071" cy="24622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000" b="1" dirty="0">
                <a:solidFill>
                  <a:srgbClr val="5353AD"/>
                </a:solidFill>
                <a:latin typeface="Aptos"/>
              </a:rPr>
              <a:t>07</a:t>
            </a:r>
            <a:endParaRPr sz="1000" b="1" dirty="0">
              <a:solidFill>
                <a:srgbClr val="5353AD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46888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1D3C68"/>
                </a:solidFill>
                <a:latin typeface="Aptos"/>
              </a:rPr>
              <a:t>Project Scope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49808"/>
            <a:ext cx="612648" cy="0"/>
          </a:xfrm>
          <a:prstGeom prst="line">
            <a:avLst/>
          </a:prstGeom>
          <a:ln w="2794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75320" y="283797"/>
            <a:ext cx="421870" cy="24622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000" b="1" dirty="0">
                <a:solidFill>
                  <a:srgbClr val="5353AD"/>
                </a:solidFill>
                <a:latin typeface="Aptos"/>
              </a:rPr>
              <a:t>07</a:t>
            </a:r>
            <a:endParaRPr sz="1000" b="1" dirty="0">
              <a:solidFill>
                <a:srgbClr val="5353AD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71749" y="1348740"/>
            <a:ext cx="8219208" cy="4276898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FE3A11-BF4C-54B0-FB6F-6261638778D5}"/>
              </a:ext>
            </a:extLst>
          </p:cNvPr>
          <p:cNvSpPr txBox="1"/>
          <p:nvPr/>
        </p:nvSpPr>
        <p:spPr>
          <a:xfrm>
            <a:off x="473927" y="864219"/>
            <a:ext cx="795918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We will focus on the core </a:t>
            </a:r>
            <a:r>
              <a:rPr lang="en-US" err="1"/>
              <a:t>CareLink</a:t>
            </a:r>
            <a:r>
              <a:rPr lang="en-US"/>
              <a:t> system and leave advanced extensions for future 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48168-A3DC-B0E0-90C3-68BCFA15B8E1}"/>
              </a:ext>
            </a:extLst>
          </p:cNvPr>
          <p:cNvSpPr txBox="1"/>
          <p:nvPr/>
        </p:nvSpPr>
        <p:spPr>
          <a:xfrm>
            <a:off x="710890" y="1644805"/>
            <a:ext cx="770828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Core Scope</a:t>
            </a:r>
            <a:endParaRPr lang="en-US" dirty="0"/>
          </a:p>
          <a:p>
            <a:r>
              <a:rPr lang="en-US" dirty="0" err="1"/>
              <a:t>CareLink</a:t>
            </a:r>
            <a:r>
              <a:rPr lang="en-US" dirty="0"/>
              <a:t> will focus on a working prototype of the adherence-risk and care-coordination workflow.</a:t>
            </a:r>
          </a:p>
          <a:p>
            <a:pPr marL="285750" indent="-285750">
              <a:buChar char="•"/>
            </a:pPr>
            <a:r>
              <a:rPr lang="en-US" dirty="0"/>
              <a:t>Patient and medication records</a:t>
            </a:r>
          </a:p>
          <a:p>
            <a:pPr marL="285750" indent="-285750">
              <a:buChar char="•"/>
            </a:pPr>
            <a:r>
              <a:rPr lang="en-US" dirty="0"/>
              <a:t>Intake and missed-dose event logging</a:t>
            </a:r>
          </a:p>
          <a:p>
            <a:pPr marL="285750" indent="-285750">
              <a:buChar char="•"/>
            </a:pPr>
            <a:r>
              <a:rPr lang="en-US" dirty="0"/>
              <a:t>Basic adherence-risk analysis</a:t>
            </a:r>
          </a:p>
          <a:p>
            <a:pPr marL="285750" indent="-285750">
              <a:buChar char="•"/>
            </a:pPr>
            <a:r>
              <a:rPr lang="en-US" dirty="0"/>
              <a:t>Intervention selection and notifications</a:t>
            </a:r>
          </a:p>
          <a:p>
            <a:pPr marL="285750" indent="-285750">
              <a:buChar char="•"/>
            </a:pPr>
            <a:r>
              <a:rPr lang="en-US" dirty="0"/>
              <a:t>Patient and caregiver / care-coordinator views</a:t>
            </a:r>
          </a:p>
          <a:p>
            <a:pPr marL="285750" indent="-285750">
              <a:buChar char="•"/>
            </a:pPr>
            <a:r>
              <a:rPr lang="en-US" dirty="0"/>
              <a:t>Alert explanations and human oversight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C424ED-EEC3-EB74-5F44-9D61A4C13B8F}"/>
              </a:ext>
            </a:extLst>
          </p:cNvPr>
          <p:cNvSpPr/>
          <p:nvPr/>
        </p:nvSpPr>
        <p:spPr>
          <a:xfrm>
            <a:off x="461358" y="216131"/>
            <a:ext cx="8219208" cy="2229890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6C5A4E-8FFA-C40F-FC73-D64A78FBDDBD}"/>
              </a:ext>
            </a:extLst>
          </p:cNvPr>
          <p:cNvSpPr txBox="1"/>
          <p:nvPr/>
        </p:nvSpPr>
        <p:spPr>
          <a:xfrm>
            <a:off x="780838" y="483811"/>
            <a:ext cx="756889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Possible Extensions (If Feasible):</a:t>
            </a:r>
          </a:p>
          <a:p>
            <a:endParaRPr lang="en-US" b="1" dirty="0"/>
          </a:p>
          <a:p>
            <a:pPr marL="285750" indent="-285750">
              <a:buChar char="•"/>
            </a:pPr>
            <a:r>
              <a:rPr lang="en-US" dirty="0"/>
              <a:t>More advanced prediction models</a:t>
            </a:r>
          </a:p>
          <a:p>
            <a:pPr marL="285750" indent="-285750">
              <a:buChar char="•"/>
            </a:pPr>
            <a:r>
              <a:rPr lang="en-US" dirty="0"/>
              <a:t>Additional notification channels</a:t>
            </a:r>
          </a:p>
          <a:p>
            <a:pPr marL="285750" indent="-285750">
              <a:buChar char="•"/>
            </a:pPr>
            <a:r>
              <a:rPr lang="en-US" dirty="0"/>
              <a:t>Wearable API integration</a:t>
            </a:r>
          </a:p>
          <a:p>
            <a:endParaRPr lang="en-US" b="1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169F8741-8BF5-8B7E-84E5-8D4F75A9F8AA}"/>
              </a:ext>
            </a:extLst>
          </p:cNvPr>
          <p:cNvSpPr/>
          <p:nvPr/>
        </p:nvSpPr>
        <p:spPr>
          <a:xfrm>
            <a:off x="461357" y="2720339"/>
            <a:ext cx="8219208" cy="2105199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B71849-DA77-8317-86DE-D7E5BA3EB181}"/>
              </a:ext>
            </a:extLst>
          </p:cNvPr>
          <p:cNvSpPr txBox="1"/>
          <p:nvPr/>
        </p:nvSpPr>
        <p:spPr>
          <a:xfrm>
            <a:off x="631057" y="2973827"/>
            <a:ext cx="787554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Out of Scope / Future Work:</a:t>
            </a:r>
          </a:p>
          <a:p>
            <a:endParaRPr lang="en-US" b="1" dirty="0"/>
          </a:p>
          <a:p>
            <a:pPr marL="285750" indent="-285750">
              <a:buChar char="•"/>
            </a:pPr>
            <a:r>
              <a:rPr lang="en-US" dirty="0"/>
              <a:t>Hospital and pharmacy system integration</a:t>
            </a:r>
          </a:p>
          <a:p>
            <a:pPr marL="285750" indent="-285750">
              <a:buChar char="•"/>
            </a:pPr>
            <a:r>
              <a:rPr lang="en-US" dirty="0"/>
              <a:t>Clinical deployment or trials without required approval</a:t>
            </a:r>
          </a:p>
          <a:p>
            <a:pPr marL="285750" indent="-285750">
              <a:buChar char="•"/>
            </a:pPr>
            <a:r>
              <a:rPr lang="en-US" dirty="0"/>
              <a:t>Custom medical hardware</a:t>
            </a:r>
          </a:p>
          <a:p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25FD22-8BBF-A2DC-E848-CB2B321362E1}"/>
              </a:ext>
            </a:extLst>
          </p:cNvPr>
          <p:cNvSpPr txBox="1"/>
          <p:nvPr/>
        </p:nvSpPr>
        <p:spPr>
          <a:xfrm>
            <a:off x="641956" y="5048714"/>
            <a:ext cx="784665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This narrowed scope ensures we build a working prototype of the intelligent care-coordination workflow within our 2-semester timeline.</a:t>
            </a:r>
          </a:p>
        </p:txBody>
      </p:sp>
    </p:spTree>
    <p:extLst>
      <p:ext uri="{BB962C8B-B14F-4D97-AF65-F5344CB8AC3E}">
        <p14:creationId xmlns:p14="http://schemas.microsoft.com/office/powerpoint/2010/main" val="3004385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or 1">
            <a:extLst>
              <a:ext uri="{FF2B5EF4-FFF2-40B4-BE49-F238E27FC236}">
                <a16:creationId xmlns:a16="http://schemas.microsoft.com/office/drawing/2014/main" id="{6D6C6F88-A56B-E677-E34E-0687ADF30DA1}"/>
              </a:ext>
            </a:extLst>
          </p:cNvPr>
          <p:cNvCxnSpPr/>
          <p:nvPr/>
        </p:nvCxnSpPr>
        <p:spPr>
          <a:xfrm>
            <a:off x="777240" y="4005072"/>
            <a:ext cx="548640" cy="0"/>
          </a:xfrm>
          <a:prstGeom prst="line">
            <a:avLst/>
          </a:prstGeom>
          <a:ln w="3302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2E3FA7F-5BEB-01FE-E884-E1201A534E60}"/>
              </a:ext>
            </a:extLst>
          </p:cNvPr>
          <p:cNvSpPr txBox="1"/>
          <p:nvPr/>
        </p:nvSpPr>
        <p:spPr>
          <a:xfrm>
            <a:off x="777240" y="4338268"/>
            <a:ext cx="2355132" cy="430887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r>
              <a:rPr lang="en-US" sz="2200" b="1" dirty="0">
                <a:solidFill>
                  <a:srgbClr val="1D3C68"/>
                </a:solidFill>
                <a:latin typeface="Aptos"/>
              </a:rPr>
              <a:t>MARKET SURVEY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2951D4-6F35-CE97-5767-68C4F5B55942}"/>
              </a:ext>
            </a:extLst>
          </p:cNvPr>
          <p:cNvSpPr txBox="1"/>
          <p:nvPr/>
        </p:nvSpPr>
        <p:spPr>
          <a:xfrm>
            <a:off x="7818120" y="4311729"/>
            <a:ext cx="502920" cy="24622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000" b="1" dirty="0">
                <a:solidFill>
                  <a:srgbClr val="5353AD"/>
                </a:solidFill>
                <a:latin typeface="Aptos"/>
              </a:rPr>
              <a:t>08</a:t>
            </a:r>
            <a:endParaRPr sz="1000" b="1" dirty="0">
              <a:solidFill>
                <a:srgbClr val="5353A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62529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03B804-950D-EA43-8EDD-AEE28060F5FE}"/>
              </a:ext>
            </a:extLst>
          </p:cNvPr>
          <p:cNvSpPr txBox="1"/>
          <p:nvPr/>
        </p:nvSpPr>
        <p:spPr>
          <a:xfrm>
            <a:off x="502920" y="260267"/>
            <a:ext cx="1765227" cy="384721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r>
              <a:rPr lang="en-US" sz="1900" b="1" dirty="0">
                <a:solidFill>
                  <a:srgbClr val="1D3C68"/>
                </a:solidFill>
                <a:latin typeface="Aptos"/>
              </a:rPr>
              <a:t>Market Survey</a:t>
            </a:r>
            <a:endParaRPr lang="en-US" dirty="0"/>
          </a:p>
        </p:txBody>
      </p:sp>
      <p:cxnSp>
        <p:nvCxnSpPr>
          <p:cNvPr id="7" name="Connector 2">
            <a:extLst>
              <a:ext uri="{FF2B5EF4-FFF2-40B4-BE49-F238E27FC236}">
                <a16:creationId xmlns:a16="http://schemas.microsoft.com/office/drawing/2014/main" id="{54C9336F-13DC-1A04-E6A1-261790A274CE}"/>
              </a:ext>
            </a:extLst>
          </p:cNvPr>
          <p:cNvCxnSpPr/>
          <p:nvPr/>
        </p:nvCxnSpPr>
        <p:spPr>
          <a:xfrm>
            <a:off x="502920" y="749808"/>
            <a:ext cx="612648" cy="0"/>
          </a:xfrm>
          <a:prstGeom prst="line">
            <a:avLst/>
          </a:prstGeom>
          <a:ln w="2794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A3EEDAA-3F1C-C9B8-A4A2-00C5B0E0F10D}"/>
              </a:ext>
            </a:extLst>
          </p:cNvPr>
          <p:cNvSpPr txBox="1"/>
          <p:nvPr/>
        </p:nvSpPr>
        <p:spPr>
          <a:xfrm>
            <a:off x="8275320" y="283797"/>
            <a:ext cx="421870" cy="24622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000" b="1" dirty="0">
                <a:solidFill>
                  <a:srgbClr val="5353AD"/>
                </a:solidFill>
                <a:latin typeface="Aptos"/>
              </a:rPr>
              <a:t>08</a:t>
            </a:r>
            <a:endParaRPr sz="1000" b="1" dirty="0">
              <a:solidFill>
                <a:srgbClr val="5353AD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94E23-5B45-C7FC-1311-518BD49D9D4D}"/>
              </a:ext>
            </a:extLst>
          </p:cNvPr>
          <p:cNvSpPr txBox="1"/>
          <p:nvPr/>
        </p:nvSpPr>
        <p:spPr>
          <a:xfrm>
            <a:off x="195146" y="961792"/>
            <a:ext cx="8753707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After interacting with a real life doctor, we came across these points:</a:t>
            </a:r>
          </a:p>
          <a:p>
            <a:endParaRPr lang="en-US" dirty="0"/>
          </a:p>
          <a:p>
            <a:pPr marL="285750" indent="-285750">
              <a:buChar char="•"/>
            </a:pPr>
            <a:r>
              <a:rPr lang="en-US" dirty="0"/>
              <a:t>Not just elderly but working parents who are on medications also tend to miss their doses.</a:t>
            </a:r>
          </a:p>
          <a:p>
            <a:pPr marL="285750" indent="-285750">
              <a:buChar char="•"/>
            </a:pPr>
            <a:r>
              <a:rPr lang="en-US" dirty="0"/>
              <a:t>New born babies are vaccinated for 24 month and many times they miss their schedule.</a:t>
            </a:r>
          </a:p>
          <a:p>
            <a:pPr marL="285750" indent="-285750">
              <a:buChar char="•"/>
            </a:pPr>
            <a:r>
              <a:rPr lang="en-US" dirty="0"/>
              <a:t>Hepatitis patients miss their follow ups.</a:t>
            </a:r>
          </a:p>
        </p:txBody>
      </p:sp>
    </p:spTree>
    <p:extLst>
      <p:ext uri="{BB962C8B-B14F-4D97-AF65-F5344CB8AC3E}">
        <p14:creationId xmlns:p14="http://schemas.microsoft.com/office/powerpoint/2010/main" val="4033498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77240" y="4005072"/>
            <a:ext cx="548640" cy="0"/>
          </a:xfrm>
          <a:prstGeom prst="line">
            <a:avLst/>
          </a:prstGeom>
          <a:ln w="3302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77240" y="4224528"/>
            <a:ext cx="7498079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D3C68"/>
                </a:solidFill>
                <a:latin typeface="Aptos"/>
              </a:rPr>
              <a:t>CONSTRAINTS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98516" y="4311729"/>
            <a:ext cx="322524" cy="246221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r"/>
            <a:r>
              <a:rPr lang="en-US" sz="1000" b="1" dirty="0">
                <a:solidFill>
                  <a:srgbClr val="5353AD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46888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1D3C68"/>
                </a:solidFill>
                <a:latin typeface="Aptos"/>
              </a:rPr>
              <a:t>Constraints and Limitations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49808"/>
            <a:ext cx="612648" cy="0"/>
          </a:xfrm>
          <a:prstGeom prst="line">
            <a:avLst/>
          </a:prstGeom>
          <a:ln w="2794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75320" y="283797"/>
            <a:ext cx="421870" cy="24622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000" b="1" dirty="0">
                <a:solidFill>
                  <a:srgbClr val="5353AD"/>
                </a:solidFill>
                <a:latin typeface="Aptos"/>
              </a:rPr>
              <a:t>09</a:t>
            </a:r>
            <a:endParaRPr sz="1000" b="1" dirty="0">
              <a:solidFill>
                <a:srgbClr val="5353AD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24544"/>
            <a:ext cx="3886200" cy="2115590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63193" y="1024544"/>
            <a:ext cx="3917372" cy="2115590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F6E18B-03A6-72A8-54EF-1183C2303FC5}"/>
              </a:ext>
            </a:extLst>
          </p:cNvPr>
          <p:cNvSpPr txBox="1"/>
          <p:nvPr/>
        </p:nvSpPr>
        <p:spPr>
          <a:xfrm>
            <a:off x="777290" y="1180002"/>
            <a:ext cx="334536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Data availability:</a:t>
            </a:r>
          </a:p>
          <a:p>
            <a:endParaRPr lang="en-US" b="1"/>
          </a:p>
          <a:p>
            <a:r>
              <a:rPr lang="en-US" dirty="0"/>
              <a:t>Use synthetic or suitable public data; access to real patient data is restricted.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EF8C3B-DADA-6820-5B13-4CD462F2D481}"/>
              </a:ext>
            </a:extLst>
          </p:cNvPr>
          <p:cNvSpPr txBox="1"/>
          <p:nvPr/>
        </p:nvSpPr>
        <p:spPr>
          <a:xfrm>
            <a:off x="4933653" y="1180001"/>
            <a:ext cx="334536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Time/team size:</a:t>
            </a:r>
          </a:p>
          <a:p>
            <a:endParaRPr lang="en-US" b="1"/>
          </a:p>
          <a:p>
            <a:r>
              <a:rPr lang="en-US" dirty="0"/>
              <a:t>Prioritize the core workflow; optional features may be excluded.</a:t>
            </a: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66CE7913-31FF-DE4E-A714-3276AC7EFAE5}"/>
              </a:ext>
            </a:extLst>
          </p:cNvPr>
          <p:cNvSpPr/>
          <p:nvPr/>
        </p:nvSpPr>
        <p:spPr>
          <a:xfrm>
            <a:off x="502919" y="3611880"/>
            <a:ext cx="3886200" cy="2115590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83A6C1-7B83-9074-B921-2F040A189047}"/>
              </a:ext>
            </a:extLst>
          </p:cNvPr>
          <p:cNvSpPr txBox="1"/>
          <p:nvPr/>
        </p:nvSpPr>
        <p:spPr>
          <a:xfrm>
            <a:off x="808462" y="3767338"/>
            <a:ext cx="334536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Ethical / privacy:</a:t>
            </a:r>
          </a:p>
          <a:p>
            <a:endParaRPr lang="en-US" b="1"/>
          </a:p>
          <a:p>
            <a:r>
              <a:rPr lang="en-US" dirty="0"/>
              <a:t>Minimize personal data and protect any information used.</a:t>
            </a:r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12CEE30C-DF08-AB28-A09A-8358232B627A}"/>
              </a:ext>
            </a:extLst>
          </p:cNvPr>
          <p:cNvSpPr/>
          <p:nvPr/>
        </p:nvSpPr>
        <p:spPr>
          <a:xfrm>
            <a:off x="4856709" y="3601488"/>
            <a:ext cx="3886200" cy="2115590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AE324-3574-38EF-D9AF-9651D5F0B086}"/>
              </a:ext>
            </a:extLst>
          </p:cNvPr>
          <p:cNvSpPr txBox="1"/>
          <p:nvPr/>
        </p:nvSpPr>
        <p:spPr>
          <a:xfrm>
            <a:off x="5162252" y="3756946"/>
            <a:ext cx="334536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Technical:</a:t>
            </a:r>
          </a:p>
          <a:p>
            <a:endParaRPr lang="en-US" b="1"/>
          </a:p>
          <a:p>
            <a:r>
              <a:rPr lang="en-US" dirty="0"/>
              <a:t>A responsive web platform is the planned prototype approach.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A07B77-1E18-8761-587C-CE323F3F8506}"/>
              </a:ext>
            </a:extLst>
          </p:cNvPr>
          <p:cNvSpPr/>
          <p:nvPr/>
        </p:nvSpPr>
        <p:spPr>
          <a:xfrm>
            <a:off x="335905" y="1420412"/>
            <a:ext cx="3886200" cy="3227417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6B986EA9-2840-FEA3-A34D-9BC16CCFF233}"/>
              </a:ext>
            </a:extLst>
          </p:cNvPr>
          <p:cNvSpPr/>
          <p:nvPr/>
        </p:nvSpPr>
        <p:spPr>
          <a:xfrm>
            <a:off x="4763193" y="1420412"/>
            <a:ext cx="3917372" cy="3227417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F9239-C36E-BDFF-DB48-2E1AB78FF806}"/>
              </a:ext>
            </a:extLst>
          </p:cNvPr>
          <p:cNvSpPr txBox="1"/>
          <p:nvPr/>
        </p:nvSpPr>
        <p:spPr>
          <a:xfrm>
            <a:off x="610022" y="1837924"/>
            <a:ext cx="3345365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Accuracy / Validation:</a:t>
            </a:r>
          </a:p>
          <a:p>
            <a:endParaRPr lang="en-US" b="1"/>
          </a:p>
          <a:p>
            <a:r>
              <a:rPr lang="en-US" dirty="0"/>
              <a:t>Limited data may restrict model evaluation. Results will be reported honestly.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4F24E5-8DEE-C157-ACA0-94E980449CB7}"/>
              </a:ext>
            </a:extLst>
          </p:cNvPr>
          <p:cNvSpPr txBox="1"/>
          <p:nvPr/>
        </p:nvSpPr>
        <p:spPr>
          <a:xfrm>
            <a:off x="4944804" y="1837923"/>
            <a:ext cx="3345365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Generalizability:</a:t>
            </a:r>
          </a:p>
          <a:p>
            <a:endParaRPr lang="en-US" b="1"/>
          </a:p>
          <a:p>
            <a:r>
              <a:rPr lang="en-US" dirty="0"/>
              <a:t>Testing with simulated scenarios will not establish performance across all patient groups.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F7ECC-244F-7A6D-7C2E-421332D59ABB}"/>
              </a:ext>
            </a:extLst>
          </p:cNvPr>
          <p:cNvSpPr txBox="1"/>
          <p:nvPr/>
        </p:nvSpPr>
        <p:spPr>
          <a:xfrm>
            <a:off x="502920" y="260267"/>
            <a:ext cx="4177747" cy="384721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r>
              <a:rPr sz="1900" b="1" dirty="0">
                <a:solidFill>
                  <a:srgbClr val="1D3C68"/>
                </a:solidFill>
                <a:latin typeface="Aptos"/>
              </a:rPr>
              <a:t>Constraints and Limitations</a:t>
            </a:r>
            <a:r>
              <a:rPr lang="en-US" sz="1900" b="1" dirty="0">
                <a:solidFill>
                  <a:srgbClr val="1D3C68"/>
                </a:solidFill>
                <a:latin typeface="Aptos"/>
              </a:rPr>
              <a:t> </a:t>
            </a:r>
            <a:r>
              <a:rPr lang="en-US" i="1" dirty="0">
                <a:solidFill>
                  <a:srgbClr val="1D3C68"/>
                </a:solidFill>
                <a:latin typeface="Times New Roman"/>
                <a:cs typeface="Times New Roman"/>
              </a:rPr>
              <a:t>(Continued)</a:t>
            </a:r>
          </a:p>
        </p:txBody>
      </p:sp>
      <p:cxnSp>
        <p:nvCxnSpPr>
          <p:cNvPr id="6" name="Connector 2">
            <a:extLst>
              <a:ext uri="{FF2B5EF4-FFF2-40B4-BE49-F238E27FC236}">
                <a16:creationId xmlns:a16="http://schemas.microsoft.com/office/drawing/2014/main" id="{63150A0C-AD40-1DB2-989C-CFD37495AAFF}"/>
              </a:ext>
            </a:extLst>
          </p:cNvPr>
          <p:cNvCxnSpPr/>
          <p:nvPr/>
        </p:nvCxnSpPr>
        <p:spPr>
          <a:xfrm>
            <a:off x="502920" y="749808"/>
            <a:ext cx="612648" cy="0"/>
          </a:xfrm>
          <a:prstGeom prst="line">
            <a:avLst/>
          </a:prstGeom>
          <a:ln w="2794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D767C8-A764-10C7-2E27-6B29BB88A23E}"/>
              </a:ext>
            </a:extLst>
          </p:cNvPr>
          <p:cNvSpPr txBox="1"/>
          <p:nvPr/>
        </p:nvSpPr>
        <p:spPr>
          <a:xfrm>
            <a:off x="8275320" y="283797"/>
            <a:ext cx="421870" cy="24622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000" b="1" dirty="0">
                <a:solidFill>
                  <a:srgbClr val="5353AD"/>
                </a:solidFill>
                <a:latin typeface="Aptos"/>
              </a:rPr>
              <a:t>09</a:t>
            </a:r>
            <a:endParaRPr sz="1000" b="1" dirty="0">
              <a:solidFill>
                <a:srgbClr val="5353A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58732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Connector 1">
            <a:extLst>
              <a:ext uri="{FF2B5EF4-FFF2-40B4-BE49-F238E27FC236}">
                <a16:creationId xmlns:a16="http://schemas.microsoft.com/office/drawing/2014/main" id="{1F2EFBCC-C1EA-8FA7-0583-CC4D73F0CE5B}"/>
              </a:ext>
            </a:extLst>
          </p:cNvPr>
          <p:cNvCxnSpPr/>
          <p:nvPr/>
        </p:nvCxnSpPr>
        <p:spPr>
          <a:xfrm>
            <a:off x="777240" y="4005072"/>
            <a:ext cx="548640" cy="0"/>
          </a:xfrm>
          <a:prstGeom prst="line">
            <a:avLst/>
          </a:prstGeom>
          <a:ln w="3302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7BB1297-81EB-D53B-ADFE-E9E5DA99EFB6}"/>
              </a:ext>
            </a:extLst>
          </p:cNvPr>
          <p:cNvSpPr txBox="1"/>
          <p:nvPr/>
        </p:nvSpPr>
        <p:spPr>
          <a:xfrm>
            <a:off x="777240" y="4338268"/>
            <a:ext cx="4750018" cy="430887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r>
              <a:rPr lang="en-US" sz="2200" b="1">
                <a:solidFill>
                  <a:srgbClr val="1D3C68"/>
                </a:solidFill>
              </a:rPr>
              <a:t>Work Breakdown Structure (WBS)</a:t>
            </a:r>
            <a:endParaRPr lang="en-US" b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7E0AC8-CE40-8EFF-836B-8B25675494DE}"/>
              </a:ext>
            </a:extLst>
          </p:cNvPr>
          <p:cNvSpPr txBox="1"/>
          <p:nvPr/>
        </p:nvSpPr>
        <p:spPr>
          <a:xfrm>
            <a:off x="8020057" y="4301338"/>
            <a:ext cx="322525" cy="246221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r"/>
            <a:r>
              <a:rPr lang="en-US" sz="1000" b="1" dirty="0">
                <a:solidFill>
                  <a:srgbClr val="5353AD"/>
                </a:solidFill>
                <a:latin typeface="Aptos"/>
              </a:rPr>
              <a:t>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520B77-2310-6F66-22BD-FD80244C9E30}"/>
              </a:ext>
            </a:extLst>
          </p:cNvPr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8DFDD8-C2FA-A290-6B32-357580D2E268}"/>
              </a:ext>
            </a:extLst>
          </p:cNvPr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16424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9B3673-F9B0-A610-A6D8-7C9D58B843E6}"/>
              </a:ext>
            </a:extLst>
          </p:cNvPr>
          <p:cNvSpPr txBox="1"/>
          <p:nvPr/>
        </p:nvSpPr>
        <p:spPr>
          <a:xfrm>
            <a:off x="502920" y="260267"/>
            <a:ext cx="4195379" cy="384721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r>
              <a:rPr lang="en-US" sz="1900" b="1">
                <a:solidFill>
                  <a:srgbClr val="1D3C68"/>
                </a:solidFill>
              </a:rPr>
              <a:t>Work Breakdown Structure (WBS) </a:t>
            </a:r>
            <a:endParaRPr lang="en-US" b="1"/>
          </a:p>
        </p:txBody>
      </p:sp>
      <p:cxnSp>
        <p:nvCxnSpPr>
          <p:cNvPr id="7" name="Connector 2">
            <a:extLst>
              <a:ext uri="{FF2B5EF4-FFF2-40B4-BE49-F238E27FC236}">
                <a16:creationId xmlns:a16="http://schemas.microsoft.com/office/drawing/2014/main" id="{F0EE9EB8-4F9C-0700-B4D7-837900012131}"/>
              </a:ext>
            </a:extLst>
          </p:cNvPr>
          <p:cNvCxnSpPr/>
          <p:nvPr/>
        </p:nvCxnSpPr>
        <p:spPr>
          <a:xfrm>
            <a:off x="502920" y="749808"/>
            <a:ext cx="612648" cy="0"/>
          </a:xfrm>
          <a:prstGeom prst="line">
            <a:avLst/>
          </a:prstGeom>
          <a:ln w="2794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54D8AD-F54D-9461-DB64-112B520182B9}"/>
              </a:ext>
            </a:extLst>
          </p:cNvPr>
          <p:cNvSpPr txBox="1"/>
          <p:nvPr/>
        </p:nvSpPr>
        <p:spPr>
          <a:xfrm>
            <a:off x="473927" y="864219"/>
            <a:ext cx="795918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The project will progress roughly as follows: 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202E5634-CD30-16E6-1FB9-871D272F3B37}"/>
              </a:ext>
            </a:extLst>
          </p:cNvPr>
          <p:cNvSpPr/>
          <p:nvPr/>
        </p:nvSpPr>
        <p:spPr>
          <a:xfrm>
            <a:off x="492526" y="1450572"/>
            <a:ext cx="8229602" cy="1492135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50AAAA-E7C9-3FAE-8A76-6ECC31C16ACE}"/>
              </a:ext>
            </a:extLst>
          </p:cNvPr>
          <p:cNvSpPr txBox="1"/>
          <p:nvPr/>
        </p:nvSpPr>
        <p:spPr>
          <a:xfrm>
            <a:off x="683012" y="1589049"/>
            <a:ext cx="794524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Planning &amp; Requirements (Month 1):</a:t>
            </a:r>
            <a:endParaRPr lang="en-US" dirty="0"/>
          </a:p>
          <a:p>
            <a:endParaRPr lang="en-US"/>
          </a:p>
          <a:p>
            <a:r>
              <a:rPr lang="en-US" dirty="0"/>
              <a:t>Research the problem, confirm core requirements, identify suitable data, and prepare initial wireframes.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3ABFC875-0009-AE95-2B17-FAE8DF0D5273}"/>
              </a:ext>
            </a:extLst>
          </p:cNvPr>
          <p:cNvSpPr/>
          <p:nvPr/>
        </p:nvSpPr>
        <p:spPr>
          <a:xfrm>
            <a:off x="471744" y="3424843"/>
            <a:ext cx="8250383" cy="1471354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DD162B-793B-BFD5-3F15-D103494A0401}"/>
              </a:ext>
            </a:extLst>
          </p:cNvPr>
          <p:cNvSpPr txBox="1"/>
          <p:nvPr/>
        </p:nvSpPr>
        <p:spPr>
          <a:xfrm>
            <a:off x="683012" y="3573711"/>
            <a:ext cx="794524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Design (Month 2): </a:t>
            </a:r>
          </a:p>
          <a:p>
            <a:endParaRPr lang="en-US"/>
          </a:p>
          <a:p>
            <a:r>
              <a:rPr lang="en-US" dirty="0"/>
              <a:t>Define the architecture, database, APIs, intervention rules, model approach, and development environment.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F1F15E-D87F-3228-2CEC-F8994C7B38E4}"/>
              </a:ext>
            </a:extLst>
          </p:cNvPr>
          <p:cNvSpPr txBox="1"/>
          <p:nvPr/>
        </p:nvSpPr>
        <p:spPr>
          <a:xfrm>
            <a:off x="8403762" y="259274"/>
            <a:ext cx="322524" cy="246221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r"/>
            <a:r>
              <a:rPr lang="en-US" sz="1000" b="1" dirty="0">
                <a:solidFill>
                  <a:srgbClr val="5353AD"/>
                </a:solidFill>
                <a:latin typeface="Aptos"/>
              </a:rPr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648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39249F-0331-E54F-E3B4-E5DB19747E59}"/>
              </a:ext>
            </a:extLst>
          </p:cNvPr>
          <p:cNvSpPr/>
          <p:nvPr/>
        </p:nvSpPr>
        <p:spPr>
          <a:xfrm>
            <a:off x="281667" y="338239"/>
            <a:ext cx="8478983" cy="1263792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28A6D6-EFCC-3E44-1EA6-4F7C84694B07}"/>
              </a:ext>
            </a:extLst>
          </p:cNvPr>
          <p:cNvSpPr txBox="1"/>
          <p:nvPr/>
        </p:nvSpPr>
        <p:spPr>
          <a:xfrm>
            <a:off x="513208" y="542101"/>
            <a:ext cx="807069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Core Development  (Months 3–4):</a:t>
            </a:r>
            <a:endParaRPr lang="en-US" dirty="0"/>
          </a:p>
          <a:p>
            <a:endParaRPr lang="en-US"/>
          </a:p>
          <a:p>
            <a:r>
              <a:rPr lang="en-US" dirty="0"/>
              <a:t>Build patient and medication records, event logging, baseline risk analysis, and initial intervention rules.</a:t>
            </a:r>
          </a:p>
        </p:txBody>
      </p:sp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85EFAE00-0570-38CC-6251-60771303EB73}"/>
              </a:ext>
            </a:extLst>
          </p:cNvPr>
          <p:cNvSpPr/>
          <p:nvPr/>
        </p:nvSpPr>
        <p:spPr>
          <a:xfrm>
            <a:off x="281665" y="1772437"/>
            <a:ext cx="8478983" cy="1156080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900636F1-8E7A-1DFC-17E1-1913753E5706}"/>
              </a:ext>
            </a:extLst>
          </p:cNvPr>
          <p:cNvSpPr txBox="1"/>
          <p:nvPr/>
        </p:nvSpPr>
        <p:spPr>
          <a:xfrm>
            <a:off x="483303" y="1967176"/>
            <a:ext cx="7833731" cy="95410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Interface &amp; Integration  (Months 5–6): </a:t>
            </a:r>
            <a:endParaRPr lang="en-US" dirty="0"/>
          </a:p>
          <a:p>
            <a:endParaRPr lang="en-US"/>
          </a:p>
          <a:p>
            <a:r>
              <a:rPr lang="en-US" dirty="0"/>
              <a:t>Build patient and care-team views, notifications, explanations, and run scenario tests.</a:t>
            </a:r>
          </a:p>
          <a:p>
            <a:endParaRPr lang="en-US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C79FDC0A-C97C-F8AF-FEE0-0B1710E12B28}"/>
              </a:ext>
            </a:extLst>
          </p:cNvPr>
          <p:cNvSpPr/>
          <p:nvPr/>
        </p:nvSpPr>
        <p:spPr>
          <a:xfrm>
            <a:off x="281665" y="3099431"/>
            <a:ext cx="8478983" cy="1156080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1D8D8661-5D18-F6B1-2822-DBADF5EBA5A5}"/>
              </a:ext>
            </a:extLst>
          </p:cNvPr>
          <p:cNvSpPr txBox="1"/>
          <p:nvPr/>
        </p:nvSpPr>
        <p:spPr>
          <a:xfrm>
            <a:off x="505605" y="3294171"/>
            <a:ext cx="7833731" cy="95410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Integration &amp; Testing  (Month 7)</a:t>
            </a:r>
          </a:p>
          <a:p>
            <a:endParaRPr lang="en-US"/>
          </a:p>
          <a:p>
            <a:r>
              <a:rPr lang="en-US" dirty="0"/>
              <a:t>Test the end-to-end workflow using simulated patient scenarios and refine issues.</a:t>
            </a:r>
          </a:p>
          <a:p>
            <a:endParaRPr lang="en-US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5F71B9DF-8512-4332-3343-135BC9C36596}"/>
              </a:ext>
            </a:extLst>
          </p:cNvPr>
          <p:cNvSpPr/>
          <p:nvPr/>
        </p:nvSpPr>
        <p:spPr>
          <a:xfrm>
            <a:off x="281666" y="4437577"/>
            <a:ext cx="8478983" cy="1156080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162A1CAD-9C6D-B1ED-A34D-3452E80E09A7}"/>
              </a:ext>
            </a:extLst>
          </p:cNvPr>
          <p:cNvSpPr txBox="1"/>
          <p:nvPr/>
        </p:nvSpPr>
        <p:spPr>
          <a:xfrm>
            <a:off x="550209" y="4632317"/>
            <a:ext cx="7833731" cy="95410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Demonstration &amp; Documentation  (Month 8)</a:t>
            </a:r>
            <a:endParaRPr lang="en-US" dirty="0"/>
          </a:p>
          <a:p>
            <a:endParaRPr lang="en-US"/>
          </a:p>
          <a:p>
            <a:r>
              <a:rPr lang="en-US" dirty="0"/>
              <a:t>Prepare the prototype demonstration, documentation, and research summary.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096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or 1">
            <a:extLst>
              <a:ext uri="{FF2B5EF4-FFF2-40B4-BE49-F238E27FC236}">
                <a16:creationId xmlns:a16="http://schemas.microsoft.com/office/drawing/2014/main" id="{BC9A883E-1947-1CAF-50E8-3F46251A90DE}"/>
              </a:ext>
            </a:extLst>
          </p:cNvPr>
          <p:cNvCxnSpPr/>
          <p:nvPr/>
        </p:nvCxnSpPr>
        <p:spPr>
          <a:xfrm>
            <a:off x="777240" y="4005072"/>
            <a:ext cx="548640" cy="0"/>
          </a:xfrm>
          <a:prstGeom prst="line">
            <a:avLst/>
          </a:prstGeom>
          <a:ln w="3302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935BD9E-7697-4F21-B00F-99517E13A3C4}"/>
              </a:ext>
            </a:extLst>
          </p:cNvPr>
          <p:cNvSpPr txBox="1"/>
          <p:nvPr/>
        </p:nvSpPr>
        <p:spPr>
          <a:xfrm>
            <a:off x="777240" y="4338268"/>
            <a:ext cx="3783408" cy="430887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r>
              <a:rPr lang="en-US" sz="2200" b="1">
                <a:solidFill>
                  <a:srgbClr val="1D3C68"/>
                </a:solidFill>
              </a:rPr>
              <a:t>Roles and Responsibilities</a:t>
            </a:r>
            <a:endParaRPr lang="en-US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972F53-7B6C-1D45-BF05-C3C3B557CFAA}"/>
              </a:ext>
            </a:extLst>
          </p:cNvPr>
          <p:cNvSpPr txBox="1"/>
          <p:nvPr/>
        </p:nvSpPr>
        <p:spPr>
          <a:xfrm>
            <a:off x="502920" y="6236208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CareLink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59E2F3-17D1-08A9-D1D4-C4E64B080013}"/>
              </a:ext>
            </a:extLst>
          </p:cNvPr>
          <p:cNvSpPr txBox="1"/>
          <p:nvPr/>
        </p:nvSpPr>
        <p:spPr>
          <a:xfrm>
            <a:off x="8366760" y="6236208"/>
            <a:ext cx="274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5134D8B9-F8BB-E793-54A1-95711C4D2AB8}"/>
              </a:ext>
            </a:extLst>
          </p:cNvPr>
          <p:cNvSpPr txBox="1"/>
          <p:nvPr/>
        </p:nvSpPr>
        <p:spPr>
          <a:xfrm>
            <a:off x="8008907" y="4301338"/>
            <a:ext cx="322524" cy="246221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000" b="1" dirty="0">
                <a:solidFill>
                  <a:srgbClr val="5353AD"/>
                </a:solidFill>
                <a:latin typeface="Aptos"/>
              </a:rPr>
              <a:t>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0662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82D16F-38B5-0A53-2976-48AD18508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417404"/>
              </p:ext>
            </p:extLst>
          </p:nvPr>
        </p:nvGraphicFramePr>
        <p:xfrm>
          <a:off x="457200" y="966354"/>
          <a:ext cx="8236789" cy="3554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6585">
                  <a:extLst>
                    <a:ext uri="{9D8B030D-6E8A-4147-A177-3AD203B41FA5}">
                      <a16:colId xmlns:a16="http://schemas.microsoft.com/office/drawing/2014/main" val="1654819971"/>
                    </a:ext>
                  </a:extLst>
                </a:gridCol>
                <a:gridCol w="5170204">
                  <a:extLst>
                    <a:ext uri="{9D8B030D-6E8A-4147-A177-3AD203B41FA5}">
                      <a16:colId xmlns:a16="http://schemas.microsoft.com/office/drawing/2014/main" val="712954689"/>
                    </a:ext>
                  </a:extLst>
                </a:gridCol>
              </a:tblGrid>
              <a:tr h="54906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>
                          <a:latin typeface="Arial"/>
                          <a:cs typeface="Arial"/>
                        </a:rPr>
                        <a:t>Team Member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/>
                        <a:t>Roles &amp; Responsibilities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993849"/>
                  </a:ext>
                </a:extLst>
              </a:tr>
              <a:tr h="9536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Saif Majid Khan (Backend)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Backend, database, APIs, and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03565"/>
                  </a:ext>
                </a:extLst>
              </a:tr>
              <a:tr h="6068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Saleem Aman (AI/ML)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/>
                        <a:t>AI/ML, adherence analysis, and intervention logic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372624"/>
                  </a:ext>
                </a:extLst>
              </a:tr>
              <a:tr h="69355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Siyab Ahmad Khan </a:t>
                      </a: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(Frontend/UI) </a:t>
                      </a:r>
                      <a:endParaRPr lang="en-US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/>
                        <a:t>User interface, dashboards, and user experience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01919"/>
                  </a:ext>
                </a:extLst>
              </a:tr>
              <a:tr h="75134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Instructor: Mr. Muhammad Usman Sharif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/>
                        <a:t>Technical guidance, research direction, and scope refinement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6378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B4F3A0-DFB4-513C-C358-BE96C6DAC1AD}"/>
              </a:ext>
            </a:extLst>
          </p:cNvPr>
          <p:cNvSpPr txBox="1"/>
          <p:nvPr/>
        </p:nvSpPr>
        <p:spPr>
          <a:xfrm>
            <a:off x="502920" y="237184"/>
            <a:ext cx="3783408" cy="430887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r>
              <a:rPr lang="en-US" sz="2200" b="1">
                <a:solidFill>
                  <a:srgbClr val="1D3C68"/>
                </a:solidFill>
              </a:rPr>
              <a:t>Roles and Responsibilities</a:t>
            </a:r>
            <a:endParaRPr lang="en-US" sz="2200"/>
          </a:p>
        </p:txBody>
      </p:sp>
      <p:cxnSp>
        <p:nvCxnSpPr>
          <p:cNvPr id="8" name="Connector 2">
            <a:extLst>
              <a:ext uri="{FF2B5EF4-FFF2-40B4-BE49-F238E27FC236}">
                <a16:creationId xmlns:a16="http://schemas.microsoft.com/office/drawing/2014/main" id="{E86B24C9-BADC-9CE9-6A83-094D258B1A3A}"/>
              </a:ext>
            </a:extLst>
          </p:cNvPr>
          <p:cNvCxnSpPr/>
          <p:nvPr/>
        </p:nvCxnSpPr>
        <p:spPr>
          <a:xfrm>
            <a:off x="502920" y="749808"/>
            <a:ext cx="612648" cy="0"/>
          </a:xfrm>
          <a:prstGeom prst="line">
            <a:avLst/>
          </a:prstGeom>
          <a:ln w="27940">
            <a:solidFill>
              <a:srgbClr val="CF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91FD355-CF37-5E41-CE20-BA72CA19F211}"/>
              </a:ext>
            </a:extLst>
          </p:cNvPr>
          <p:cNvSpPr txBox="1"/>
          <p:nvPr/>
        </p:nvSpPr>
        <p:spPr>
          <a:xfrm>
            <a:off x="463537" y="4932893"/>
            <a:ext cx="823770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All team members will contribute to system design, testing, and documentation.</a:t>
            </a:r>
            <a:endParaRPr lang="en-US" b="1"/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72F15879-BA95-BEBE-CFCB-C299425C1A6C}"/>
              </a:ext>
            </a:extLst>
          </p:cNvPr>
          <p:cNvSpPr txBox="1"/>
          <p:nvPr/>
        </p:nvSpPr>
        <p:spPr>
          <a:xfrm>
            <a:off x="8374667" y="328778"/>
            <a:ext cx="322524" cy="246221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000" b="1" dirty="0">
                <a:solidFill>
                  <a:srgbClr val="5353AD"/>
                </a:solidFill>
                <a:latin typeface="Aptos"/>
              </a:rPr>
              <a:t>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924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ank you Images - Free Download on Magnific (formerly Freepik)">
            <a:extLst>
              <a:ext uri="{FF2B5EF4-FFF2-40B4-BE49-F238E27FC236}">
                <a16:creationId xmlns:a16="http://schemas.microsoft.com/office/drawing/2014/main" id="{C9A1BE64-0D94-8004-ED47-04D7D0F26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148" y="228600"/>
            <a:ext cx="729170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484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33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revision>340</cp:revision>
  <dcterms:created xsi:type="dcterms:W3CDTF">2013-01-22T07:04:44Z</dcterms:created>
  <dcterms:modified xsi:type="dcterms:W3CDTF">2026-09-18T09:46:26Z</dcterms:modified>
</cp:coreProperties>
</file>