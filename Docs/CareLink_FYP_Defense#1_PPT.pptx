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73" r:id="rId9"/>
    <p:sldId id="263" r:id="rId10"/>
    <p:sldId id="264" r:id="rId11"/>
    <p:sldId id="274" r:id="rId12"/>
    <p:sldId id="265" r:id="rId13"/>
    <p:sldId id="266" r:id="rId14"/>
    <p:sldId id="267" r:id="rId15"/>
    <p:sldId id="268" r:id="rId16"/>
    <p:sldId id="275" r:id="rId17"/>
    <p:sldId id="287" r:id="rId18"/>
    <p:sldId id="276" r:id="rId19"/>
    <p:sldId id="277" r:id="rId20"/>
    <p:sldId id="278" r:id="rId21"/>
    <p:sldId id="269" r:id="rId22"/>
    <p:sldId id="270" r:id="rId23"/>
    <p:sldId id="279" r:id="rId24"/>
    <p:sldId id="271" r:id="rId25"/>
    <p:sldId id="272" r:id="rId26"/>
    <p:sldId id="280" r:id="rId27"/>
    <p:sldId id="281" r:id="rId28"/>
    <p:sldId id="282" r:id="rId29"/>
    <p:sldId id="283" r:id="rId30"/>
    <p:sldId id="284" r:id="rId31"/>
    <p:sldId id="285" r:id="rId32"/>
    <p:sldId id="286" r:id="rId33"/>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gqso+muD7qxSKyk66oXGt+27nMB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38" dt="2026-09-16T04:38:42.467"/>
    <p1510:client id="{647E76DB-13EF-0705-F645-83EF8A86720E}" v="2094" dt="2026-09-15T19:47:32.8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05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19425" y="720075"/>
            <a:ext cx="4877025"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p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p6:notes"/>
          <p:cNvSpPr>
            <a:spLocks noGrp="1" noRot="1" noChangeAspect="1"/>
          </p:cNvSpPr>
          <p:nvPr>
            <p:ph type="sldImg" idx="2"/>
          </p:nvPr>
        </p:nvSpPr>
        <p:spPr>
          <a:xfrm>
            <a:off x="1219425" y="720075"/>
            <a:ext cx="4877025"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039867fdc9_0_11:notes"/>
          <p:cNvSpPr txBox="1">
            <a:spLocks noGrp="1"/>
          </p:cNvSpPr>
          <p:nvPr>
            <p:ph type="body" idx="1"/>
          </p:nvPr>
        </p:nvSpPr>
        <p:spPr>
          <a:xfrm>
            <a:off x="731500" y="4560550"/>
            <a:ext cx="5852100" cy="432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g2039867fdc9_0_11:notes"/>
          <p:cNvSpPr>
            <a:spLocks noGrp="1" noRot="1" noChangeAspect="1"/>
          </p:cNvSpPr>
          <p:nvPr>
            <p:ph type="sldImg" idx="2"/>
          </p:nvPr>
        </p:nvSpPr>
        <p:spPr>
          <a:xfrm>
            <a:off x="1219425" y="720075"/>
            <a:ext cx="4877100" cy="36006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039867fdc9_0_16:notes"/>
          <p:cNvSpPr txBox="1">
            <a:spLocks noGrp="1"/>
          </p:cNvSpPr>
          <p:nvPr>
            <p:ph type="body" idx="1"/>
          </p:nvPr>
        </p:nvSpPr>
        <p:spPr>
          <a:xfrm>
            <a:off x="731500" y="4560550"/>
            <a:ext cx="5852100" cy="432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 name="Google Shape;131;g2039867fdc9_0_1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8:notes"/>
          <p:cNvSpPr>
            <a:spLocks noGrp="1" noRot="1" noChangeAspect="1"/>
          </p:cNvSpPr>
          <p:nvPr>
            <p:ph type="sldImg" idx="2"/>
          </p:nvPr>
        </p:nvSpPr>
        <p:spPr>
          <a:xfrm>
            <a:off x="1219425" y="720075"/>
            <a:ext cx="4877025"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1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7" name="Google Shape;167;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6: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2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27: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2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 name="Google Shape;19;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 name="Google Shape;25;p1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6" name="Google Shape;26;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1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2" name="Google Shape;32;p1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3" name="Google Shape;33;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1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9" name="Google Shape;39;p1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0" name="Google Shape;40;p1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1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7" name="Google Shape;4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6" name="Google Shape;56;p2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2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3" name="Google Shape;63;p23"/>
          <p:cNvSpPr>
            <a:spLocks noGrp="1"/>
          </p:cNvSpPr>
          <p:nvPr>
            <p:ph type="pic" idx="2"/>
          </p:nvPr>
        </p:nvSpPr>
        <p:spPr>
          <a:xfrm>
            <a:off x="1792288" y="612775"/>
            <a:ext cx="5486400" cy="4114800"/>
          </a:xfrm>
          <a:prstGeom prst="rect">
            <a:avLst/>
          </a:prstGeom>
          <a:noFill/>
          <a:ln>
            <a:noFill/>
          </a:ln>
        </p:spPr>
      </p:sp>
      <p:sp>
        <p:nvSpPr>
          <p:cNvPr id="64" name="Google Shape;64;p2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frontiersin.org/journals/digital-health/articles/10.3389/fdgth.2025.1523070/"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www.frontiersin.org/journals/digital-health/articles/10.3389/fdgth.2026.1769337/"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https://www.pharmacytimes.com/view/ai-driven-solutions-promote-medication-adherenc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pic>
        <p:nvPicPr>
          <p:cNvPr id="86" name="Google Shape;86;p1" descr="Riphah.jpg"/>
          <p:cNvPicPr preferRelativeResize="0"/>
          <p:nvPr/>
        </p:nvPicPr>
        <p:blipFill rotWithShape="1">
          <a:blip r:embed="rId4">
            <a:alphaModFix/>
          </a:blip>
          <a:srcRect l="3033" t="4065" r="6926" b="4925"/>
          <a:stretch/>
        </p:blipFill>
        <p:spPr>
          <a:xfrm>
            <a:off x="4087368" y="932688"/>
            <a:ext cx="960120" cy="1261872"/>
          </a:xfrm>
          <a:prstGeom prst="rect">
            <a:avLst/>
          </a:prstGeom>
          <a:noFill/>
          <a:ln>
            <a:noFill/>
          </a:ln>
        </p:spPr>
      </p:pic>
      <p:sp>
        <p:nvSpPr>
          <p:cNvPr id="87" name="TextBox 86"/>
          <p:cNvSpPr txBox="1"/>
          <p:nvPr/>
        </p:nvSpPr>
        <p:spPr>
          <a:xfrm>
            <a:off x="1051560" y="2192482"/>
            <a:ext cx="7040880" cy="502920"/>
          </a:xfrm>
          <a:prstGeom prst="rect">
            <a:avLst/>
          </a:prstGeom>
          <a:noFill/>
        </p:spPr>
        <p:txBody>
          <a:bodyPr wrap="none" anchor="ctr">
            <a:spAutoFit/>
          </a:bodyPr>
          <a:lstStyle/>
          <a:p>
            <a:pPr algn="ctr"/>
            <a:r>
              <a:rPr sz="2500" b="1">
                <a:solidFill>
                  <a:srgbClr val="1D3C68"/>
                </a:solidFill>
                <a:latin typeface="Aptos"/>
              </a:rPr>
              <a:t>FINAL YEAR PROJECT PROPOSAL</a:t>
            </a:r>
          </a:p>
        </p:txBody>
      </p:sp>
      <p:sp>
        <p:nvSpPr>
          <p:cNvPr id="88" name="TextBox 87"/>
          <p:cNvSpPr txBox="1"/>
          <p:nvPr/>
        </p:nvSpPr>
        <p:spPr>
          <a:xfrm>
            <a:off x="1965960" y="2788920"/>
            <a:ext cx="5212080" cy="658368"/>
          </a:xfrm>
          <a:prstGeom prst="rect">
            <a:avLst/>
          </a:prstGeom>
          <a:noFill/>
        </p:spPr>
        <p:txBody>
          <a:bodyPr wrap="none" anchor="ctr">
            <a:spAutoFit/>
          </a:bodyPr>
          <a:lstStyle/>
          <a:p>
            <a:pPr algn="ctr"/>
            <a:r>
              <a:rPr sz="3100" b="1">
                <a:solidFill>
                  <a:srgbClr val="5353AD"/>
                </a:solidFill>
                <a:latin typeface="Aptos"/>
              </a:rPr>
              <a:t>CareLink</a:t>
            </a:r>
          </a:p>
        </p:txBody>
      </p:sp>
      <p:sp>
        <p:nvSpPr>
          <p:cNvPr id="89" name="TextBox 88"/>
          <p:cNvSpPr txBox="1"/>
          <p:nvPr/>
        </p:nvSpPr>
        <p:spPr>
          <a:xfrm>
            <a:off x="423949" y="3666943"/>
            <a:ext cx="8296101" cy="646331"/>
          </a:xfrm>
          <a:prstGeom prst="rect">
            <a:avLst/>
          </a:prstGeom>
          <a:noFill/>
        </p:spPr>
        <p:txBody>
          <a:bodyPr wrap="square" anchor="ctr">
            <a:spAutoFit/>
          </a:bodyPr>
          <a:lstStyle/>
          <a:p>
            <a:pPr algn="ctr"/>
            <a:r>
              <a:rPr sz="1800" b="1">
                <a:solidFill>
                  <a:srgbClr val="1F2937"/>
                </a:solidFill>
                <a:latin typeface="Aptos"/>
              </a:rPr>
              <a:t>Agentic AI-Powered Medication Adherence &amp; Chronic-Care Coordination System</a:t>
            </a:r>
          </a:p>
        </p:txBody>
      </p:sp>
      <p:cxnSp>
        <p:nvCxnSpPr>
          <p:cNvPr id="90" name="Connector 89"/>
          <p:cNvCxnSpPr/>
          <p:nvPr/>
        </p:nvCxnSpPr>
        <p:spPr>
          <a:xfrm>
            <a:off x="3794760" y="4590288"/>
            <a:ext cx="1554480" cy="0"/>
          </a:xfrm>
          <a:prstGeom prst="line">
            <a:avLst/>
          </a:prstGeom>
          <a:ln w="38100">
            <a:solidFill>
              <a:srgbClr val="5353AD"/>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2334848" y="4930176"/>
            <a:ext cx="4474303" cy="307777"/>
          </a:xfrm>
          <a:prstGeom prst="rect">
            <a:avLst/>
          </a:prstGeom>
          <a:noFill/>
        </p:spPr>
        <p:txBody>
          <a:bodyPr wrap="none" lIns="91440" tIns="45720" rIns="91440" bIns="45720" anchor="ctr">
            <a:spAutoFit/>
          </a:bodyPr>
          <a:lstStyle/>
          <a:p>
            <a:pPr algn="ctr"/>
            <a:r>
              <a:rPr b="0" dirty="0">
                <a:solidFill>
                  <a:schemeClr val="tx1"/>
                </a:solidFill>
                <a:latin typeface="Aptos"/>
              </a:rPr>
              <a:t>Supervised By: Mr. Muhammad Usman Sharif (Lecturer)</a:t>
            </a:r>
            <a:endParaRPr lang="en-US" b="0">
              <a:solidFill>
                <a:schemeClr val="tx1"/>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2" name="TextBox 1"/>
          <p:cNvSpPr txBox="1"/>
          <p:nvPr/>
        </p:nvSpPr>
        <p:spPr>
          <a:xfrm>
            <a:off x="502920" y="256032"/>
            <a:ext cx="7132320" cy="438912"/>
          </a:xfrm>
          <a:prstGeom prst="rect">
            <a:avLst/>
          </a:prstGeom>
          <a:noFill/>
        </p:spPr>
        <p:txBody>
          <a:bodyPr wrap="none" anchor="ctr">
            <a:spAutoFit/>
          </a:bodyPr>
          <a:lstStyle/>
          <a:p>
            <a:pPr algn="l"/>
            <a:r>
              <a:rPr sz="2100" b="1">
                <a:solidFill>
                  <a:srgbClr val="1D3C68"/>
                </a:solidFill>
                <a:latin typeface="Aptos"/>
              </a:rPr>
              <a:t>Project Team</a:t>
            </a:r>
          </a:p>
        </p:txBody>
      </p:sp>
      <p:cxnSp>
        <p:nvCxnSpPr>
          <p:cNvPr id="3" name="Connector 2"/>
          <p:cNvCxnSpPr/>
          <p:nvPr/>
        </p:nvCxnSpPr>
        <p:spPr>
          <a:xfrm>
            <a:off x="502920" y="749808"/>
            <a:ext cx="612648" cy="0"/>
          </a:xfrm>
          <a:prstGeom prst="line">
            <a:avLst/>
          </a:prstGeom>
          <a:ln w="27940">
            <a:solidFill>
              <a:srgbClr val="CF8F27"/>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02920" y="1508760"/>
            <a:ext cx="2487168" cy="2331720"/>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508760"/>
            <a:ext cx="2487168" cy="91440"/>
          </a:xfrm>
          <a:prstGeom prst="rect">
            <a:avLst/>
          </a:prstGeom>
          <a:solidFill>
            <a:srgbClr val="5353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 y="1764792"/>
            <a:ext cx="411480" cy="274320"/>
          </a:xfrm>
          <a:prstGeom prst="rect">
            <a:avLst/>
          </a:prstGeom>
          <a:noFill/>
        </p:spPr>
        <p:txBody>
          <a:bodyPr wrap="none" anchor="ctr">
            <a:spAutoFit/>
          </a:bodyPr>
          <a:lstStyle/>
          <a:p>
            <a:pPr algn="l"/>
            <a:r>
              <a:rPr sz="1100" b="1">
                <a:solidFill>
                  <a:srgbClr val="5353AD"/>
                </a:solidFill>
                <a:latin typeface="Aptos"/>
              </a:rPr>
              <a:t>01</a:t>
            </a:r>
          </a:p>
        </p:txBody>
      </p:sp>
      <p:sp>
        <p:nvSpPr>
          <p:cNvPr id="7" name="TextBox 6"/>
          <p:cNvSpPr txBox="1"/>
          <p:nvPr/>
        </p:nvSpPr>
        <p:spPr>
          <a:xfrm>
            <a:off x="667512" y="2240280"/>
            <a:ext cx="2148840" cy="594360"/>
          </a:xfrm>
          <a:prstGeom prst="rect">
            <a:avLst/>
          </a:prstGeom>
          <a:noFill/>
        </p:spPr>
        <p:txBody>
          <a:bodyPr wrap="none" anchor="ctr">
            <a:spAutoFit/>
          </a:bodyPr>
          <a:lstStyle/>
          <a:p>
            <a:pPr algn="ctr"/>
            <a:r>
              <a:rPr sz="1500" b="1">
                <a:solidFill>
                  <a:srgbClr val="1F2937"/>
                </a:solidFill>
                <a:latin typeface="Aptos"/>
              </a:rPr>
              <a:t>Siyab Ahmad Khan</a:t>
            </a:r>
          </a:p>
        </p:txBody>
      </p:sp>
      <p:sp>
        <p:nvSpPr>
          <p:cNvPr id="8" name="TextBox 7"/>
          <p:cNvSpPr txBox="1"/>
          <p:nvPr/>
        </p:nvSpPr>
        <p:spPr>
          <a:xfrm>
            <a:off x="1445216" y="3020752"/>
            <a:ext cx="593431" cy="276999"/>
          </a:xfrm>
          <a:prstGeom prst="rect">
            <a:avLst/>
          </a:prstGeom>
          <a:noFill/>
        </p:spPr>
        <p:txBody>
          <a:bodyPr wrap="none" lIns="91440" tIns="45720" rIns="91440" bIns="45720" anchor="ctr">
            <a:spAutoFit/>
          </a:bodyPr>
          <a:lstStyle/>
          <a:p>
            <a:pPr algn="ctr"/>
            <a:r>
              <a:rPr sz="1200" b="1" dirty="0">
                <a:solidFill>
                  <a:srgbClr val="64748B"/>
                </a:solidFill>
                <a:latin typeface="Aptos"/>
              </a:rPr>
              <a:t>55051</a:t>
            </a:r>
            <a:endParaRPr lang="en-US" sz="1200" b="1" dirty="0">
              <a:solidFill>
                <a:srgbClr val="64748B"/>
              </a:solidFill>
              <a:latin typeface="Aptos"/>
            </a:endParaRPr>
          </a:p>
        </p:txBody>
      </p:sp>
      <p:sp>
        <p:nvSpPr>
          <p:cNvPr id="9" name="Rounded Rectangle 8"/>
          <p:cNvSpPr/>
          <p:nvPr/>
        </p:nvSpPr>
        <p:spPr>
          <a:xfrm>
            <a:off x="3246120" y="1508760"/>
            <a:ext cx="2487168" cy="2331720"/>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46120" y="1508760"/>
            <a:ext cx="2487168" cy="91440"/>
          </a:xfrm>
          <a:prstGeom prst="rect">
            <a:avLst/>
          </a:prstGeom>
          <a:solidFill>
            <a:srgbClr val="5353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10712" y="1764792"/>
            <a:ext cx="411480" cy="274320"/>
          </a:xfrm>
          <a:prstGeom prst="rect">
            <a:avLst/>
          </a:prstGeom>
          <a:noFill/>
        </p:spPr>
        <p:txBody>
          <a:bodyPr wrap="none" anchor="ctr">
            <a:spAutoFit/>
          </a:bodyPr>
          <a:lstStyle/>
          <a:p>
            <a:pPr algn="l"/>
            <a:r>
              <a:rPr sz="1100" b="1">
                <a:solidFill>
                  <a:srgbClr val="5353AD"/>
                </a:solidFill>
                <a:latin typeface="Aptos"/>
              </a:rPr>
              <a:t>02</a:t>
            </a:r>
          </a:p>
        </p:txBody>
      </p:sp>
      <p:sp>
        <p:nvSpPr>
          <p:cNvPr id="12" name="TextBox 11"/>
          <p:cNvSpPr txBox="1"/>
          <p:nvPr/>
        </p:nvSpPr>
        <p:spPr>
          <a:xfrm>
            <a:off x="3410712" y="2240280"/>
            <a:ext cx="2148840" cy="594360"/>
          </a:xfrm>
          <a:prstGeom prst="rect">
            <a:avLst/>
          </a:prstGeom>
          <a:noFill/>
        </p:spPr>
        <p:txBody>
          <a:bodyPr wrap="none" anchor="ctr">
            <a:spAutoFit/>
          </a:bodyPr>
          <a:lstStyle/>
          <a:p>
            <a:pPr algn="ctr"/>
            <a:r>
              <a:rPr sz="1500" b="1">
                <a:solidFill>
                  <a:srgbClr val="1F2937"/>
                </a:solidFill>
                <a:latin typeface="Aptos"/>
              </a:rPr>
              <a:t>Saif Majid Khan</a:t>
            </a:r>
          </a:p>
        </p:txBody>
      </p:sp>
      <p:sp>
        <p:nvSpPr>
          <p:cNvPr id="13" name="TextBox 12"/>
          <p:cNvSpPr txBox="1"/>
          <p:nvPr/>
        </p:nvSpPr>
        <p:spPr>
          <a:xfrm>
            <a:off x="4188416" y="3020752"/>
            <a:ext cx="593431" cy="276999"/>
          </a:xfrm>
          <a:prstGeom prst="rect">
            <a:avLst/>
          </a:prstGeom>
          <a:noFill/>
        </p:spPr>
        <p:txBody>
          <a:bodyPr wrap="none" lIns="91440" tIns="45720" rIns="91440" bIns="45720" anchor="ctr">
            <a:spAutoFit/>
          </a:bodyPr>
          <a:lstStyle/>
          <a:p>
            <a:pPr algn="ctr"/>
            <a:r>
              <a:rPr sz="1200" b="1" dirty="0">
                <a:solidFill>
                  <a:srgbClr val="64748B"/>
                </a:solidFill>
                <a:latin typeface="Aptos"/>
              </a:rPr>
              <a:t>57114</a:t>
            </a:r>
            <a:endParaRPr lang="en-US" sz="1200" b="1" dirty="0">
              <a:solidFill>
                <a:srgbClr val="64748B"/>
              </a:solidFill>
              <a:latin typeface="Aptos"/>
            </a:endParaRPr>
          </a:p>
        </p:txBody>
      </p:sp>
      <p:sp>
        <p:nvSpPr>
          <p:cNvPr id="14" name="Rounded Rectangle 13"/>
          <p:cNvSpPr/>
          <p:nvPr/>
        </p:nvSpPr>
        <p:spPr>
          <a:xfrm>
            <a:off x="5989320" y="1508760"/>
            <a:ext cx="2487168" cy="2331720"/>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89320" y="1508760"/>
            <a:ext cx="2487168" cy="91440"/>
          </a:xfrm>
          <a:prstGeom prst="rect">
            <a:avLst/>
          </a:prstGeom>
          <a:solidFill>
            <a:srgbClr val="5353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53912" y="1764792"/>
            <a:ext cx="411480" cy="274320"/>
          </a:xfrm>
          <a:prstGeom prst="rect">
            <a:avLst/>
          </a:prstGeom>
          <a:noFill/>
        </p:spPr>
        <p:txBody>
          <a:bodyPr wrap="none" anchor="ctr">
            <a:spAutoFit/>
          </a:bodyPr>
          <a:lstStyle/>
          <a:p>
            <a:pPr algn="l"/>
            <a:r>
              <a:rPr sz="1100" b="1">
                <a:solidFill>
                  <a:srgbClr val="5353AD"/>
                </a:solidFill>
                <a:latin typeface="Aptos"/>
              </a:rPr>
              <a:t>03</a:t>
            </a:r>
          </a:p>
        </p:txBody>
      </p:sp>
      <p:sp>
        <p:nvSpPr>
          <p:cNvPr id="17" name="TextBox 16"/>
          <p:cNvSpPr txBox="1"/>
          <p:nvPr/>
        </p:nvSpPr>
        <p:spPr>
          <a:xfrm>
            <a:off x="6153912" y="2240280"/>
            <a:ext cx="2148840" cy="594360"/>
          </a:xfrm>
          <a:prstGeom prst="rect">
            <a:avLst/>
          </a:prstGeom>
          <a:noFill/>
        </p:spPr>
        <p:txBody>
          <a:bodyPr wrap="none" anchor="ctr">
            <a:spAutoFit/>
          </a:bodyPr>
          <a:lstStyle/>
          <a:p>
            <a:pPr algn="ctr"/>
            <a:r>
              <a:rPr sz="1500" b="1">
                <a:solidFill>
                  <a:srgbClr val="1F2937"/>
                </a:solidFill>
                <a:latin typeface="Aptos"/>
              </a:rPr>
              <a:t>Saleem Aman</a:t>
            </a:r>
          </a:p>
        </p:txBody>
      </p:sp>
      <p:sp>
        <p:nvSpPr>
          <p:cNvPr id="18" name="TextBox 17"/>
          <p:cNvSpPr txBox="1"/>
          <p:nvPr/>
        </p:nvSpPr>
        <p:spPr>
          <a:xfrm>
            <a:off x="6931616" y="3020752"/>
            <a:ext cx="593431" cy="276999"/>
          </a:xfrm>
          <a:prstGeom prst="rect">
            <a:avLst/>
          </a:prstGeom>
          <a:noFill/>
        </p:spPr>
        <p:txBody>
          <a:bodyPr wrap="none" lIns="91440" tIns="45720" rIns="91440" bIns="45720" anchor="ctr">
            <a:spAutoFit/>
          </a:bodyPr>
          <a:lstStyle/>
          <a:p>
            <a:pPr algn="ctr"/>
            <a:r>
              <a:rPr sz="1200" b="1" dirty="0">
                <a:solidFill>
                  <a:srgbClr val="64748B"/>
                </a:solidFill>
                <a:latin typeface="Aptos"/>
              </a:rPr>
              <a:t>53526</a:t>
            </a:r>
          </a:p>
        </p:txBody>
      </p:sp>
      <p:sp>
        <p:nvSpPr>
          <p:cNvPr id="19" name="TextBox 18"/>
          <p:cNvSpPr txBox="1"/>
          <p:nvPr/>
        </p:nvSpPr>
        <p:spPr>
          <a:xfrm>
            <a:off x="2629000" y="5034825"/>
            <a:ext cx="3958736" cy="269304"/>
          </a:xfrm>
          <a:prstGeom prst="rect">
            <a:avLst/>
          </a:prstGeom>
          <a:noFill/>
        </p:spPr>
        <p:txBody>
          <a:bodyPr wrap="square" lIns="91440" tIns="45720" rIns="91440" bIns="45720" anchor="ctr">
            <a:spAutoFit/>
          </a:bodyPr>
          <a:lstStyle/>
          <a:p>
            <a:pPr algn="ctr"/>
            <a:r>
              <a:rPr sz="1150" b="1" dirty="0">
                <a:solidFill>
                  <a:schemeClr val="tx1"/>
                </a:solidFill>
                <a:latin typeface="Aptos"/>
              </a:rPr>
              <a:t>Supervised By: Mr. Muhammad Usman Sharif (Lecturer)</a:t>
            </a:r>
            <a:endParaRPr lang="en-US" sz="1150" b="1">
              <a:solidFill>
                <a:schemeClr val="tx1"/>
              </a:solidFill>
              <a:latin typeface="Aptos"/>
            </a:endParaRPr>
          </a:p>
        </p:txBody>
      </p:sp>
      <p:sp>
        <p:nvSpPr>
          <p:cNvPr id="20" name="TextBox 19"/>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21" name="TextBox 20"/>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2" name="TextBox 1"/>
          <p:cNvSpPr txBox="1"/>
          <p:nvPr/>
        </p:nvSpPr>
        <p:spPr>
          <a:xfrm>
            <a:off x="502920" y="267739"/>
            <a:ext cx="2207656" cy="415498"/>
          </a:xfrm>
          <a:prstGeom prst="rect">
            <a:avLst/>
          </a:prstGeom>
          <a:noFill/>
        </p:spPr>
        <p:txBody>
          <a:bodyPr wrap="none" lIns="91440" tIns="45720" rIns="91440" bIns="45720" anchor="ctr">
            <a:spAutoFit/>
          </a:bodyPr>
          <a:lstStyle/>
          <a:p>
            <a:r>
              <a:rPr sz="2100" b="1">
                <a:solidFill>
                  <a:srgbClr val="1D3C68"/>
                </a:solidFill>
                <a:latin typeface="Aptos"/>
              </a:rPr>
              <a:t>Table of Content</a:t>
            </a:r>
            <a:endParaRPr lang="en-US"/>
          </a:p>
        </p:txBody>
      </p:sp>
      <p:cxnSp>
        <p:nvCxnSpPr>
          <p:cNvPr id="3" name="Connector 2"/>
          <p:cNvCxnSpPr/>
          <p:nvPr/>
        </p:nvCxnSpPr>
        <p:spPr>
          <a:xfrm>
            <a:off x="502920" y="749808"/>
            <a:ext cx="612648" cy="0"/>
          </a:xfrm>
          <a:prstGeom prst="line">
            <a:avLst/>
          </a:prstGeom>
          <a:ln w="27940">
            <a:solidFill>
              <a:srgbClr val="CF8F2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21792" y="987136"/>
            <a:ext cx="411480" cy="310896"/>
          </a:xfrm>
          <a:prstGeom prst="rect">
            <a:avLst/>
          </a:prstGeom>
          <a:noFill/>
        </p:spPr>
        <p:txBody>
          <a:bodyPr wrap="none" anchor="ctr">
            <a:spAutoFit/>
          </a:bodyPr>
          <a:lstStyle/>
          <a:p>
            <a:pPr algn="l"/>
            <a:r>
              <a:rPr sz="1050" b="1">
                <a:solidFill>
                  <a:srgbClr val="5353AD"/>
                </a:solidFill>
                <a:latin typeface="Aptos"/>
              </a:rPr>
              <a:t>01</a:t>
            </a:r>
          </a:p>
        </p:txBody>
      </p:sp>
      <p:sp>
        <p:nvSpPr>
          <p:cNvPr id="5" name="TextBox 4"/>
          <p:cNvSpPr txBox="1"/>
          <p:nvPr/>
        </p:nvSpPr>
        <p:spPr>
          <a:xfrm>
            <a:off x="1170432" y="948067"/>
            <a:ext cx="6949440" cy="347472"/>
          </a:xfrm>
          <a:prstGeom prst="rect">
            <a:avLst/>
          </a:prstGeom>
          <a:noFill/>
        </p:spPr>
        <p:txBody>
          <a:bodyPr wrap="none" anchor="ctr">
            <a:spAutoFit/>
          </a:bodyPr>
          <a:lstStyle/>
          <a:p>
            <a:pPr algn="l"/>
            <a:r>
              <a:rPr sz="1300" b="0">
                <a:solidFill>
                  <a:srgbClr val="1F2937"/>
                </a:solidFill>
                <a:latin typeface="Aptos"/>
              </a:rPr>
              <a:t>Introduction and Background</a:t>
            </a:r>
          </a:p>
        </p:txBody>
      </p:sp>
      <p:cxnSp>
        <p:nvCxnSpPr>
          <p:cNvPr id="6" name="Connector 5"/>
          <p:cNvCxnSpPr/>
          <p:nvPr/>
        </p:nvCxnSpPr>
        <p:spPr>
          <a:xfrm>
            <a:off x="1170432" y="1338765"/>
            <a:ext cx="7013447" cy="0"/>
          </a:xfrm>
          <a:prstGeom prst="line">
            <a:avLst/>
          </a:prstGeom>
          <a:ln w="8890">
            <a:solidFill>
              <a:srgbClr val="E0E2E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21792" y="1466780"/>
            <a:ext cx="411480" cy="310896"/>
          </a:xfrm>
          <a:prstGeom prst="rect">
            <a:avLst/>
          </a:prstGeom>
          <a:noFill/>
        </p:spPr>
        <p:txBody>
          <a:bodyPr wrap="none" anchor="ctr">
            <a:spAutoFit/>
          </a:bodyPr>
          <a:lstStyle/>
          <a:p>
            <a:pPr algn="l"/>
            <a:r>
              <a:rPr sz="1050" b="1">
                <a:solidFill>
                  <a:srgbClr val="5353AD"/>
                </a:solidFill>
                <a:latin typeface="Aptos"/>
              </a:rPr>
              <a:t>02</a:t>
            </a:r>
          </a:p>
        </p:txBody>
      </p:sp>
      <p:sp>
        <p:nvSpPr>
          <p:cNvPr id="8" name="TextBox 7"/>
          <p:cNvSpPr txBox="1"/>
          <p:nvPr/>
        </p:nvSpPr>
        <p:spPr>
          <a:xfrm>
            <a:off x="1170432" y="1448492"/>
            <a:ext cx="6949440" cy="347472"/>
          </a:xfrm>
          <a:prstGeom prst="rect">
            <a:avLst/>
          </a:prstGeom>
          <a:noFill/>
        </p:spPr>
        <p:txBody>
          <a:bodyPr wrap="none" anchor="ctr">
            <a:spAutoFit/>
          </a:bodyPr>
          <a:lstStyle/>
          <a:p>
            <a:pPr algn="l"/>
            <a:r>
              <a:rPr sz="1300" b="0">
                <a:solidFill>
                  <a:srgbClr val="1F2937"/>
                </a:solidFill>
                <a:latin typeface="Aptos"/>
              </a:rPr>
              <a:t>Literature Review and Summary Table</a:t>
            </a:r>
          </a:p>
        </p:txBody>
      </p:sp>
      <p:cxnSp>
        <p:nvCxnSpPr>
          <p:cNvPr id="9" name="Connector 8"/>
          <p:cNvCxnSpPr/>
          <p:nvPr/>
        </p:nvCxnSpPr>
        <p:spPr>
          <a:xfrm>
            <a:off x="1160041" y="1839191"/>
            <a:ext cx="7013447" cy="0"/>
          </a:xfrm>
          <a:prstGeom prst="line">
            <a:avLst/>
          </a:prstGeom>
          <a:ln w="8890">
            <a:solidFill>
              <a:srgbClr val="E0E2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11401" y="1967206"/>
            <a:ext cx="411480" cy="310896"/>
          </a:xfrm>
          <a:prstGeom prst="rect">
            <a:avLst/>
          </a:prstGeom>
          <a:noFill/>
        </p:spPr>
        <p:txBody>
          <a:bodyPr wrap="none" anchor="ctr">
            <a:spAutoFit/>
          </a:bodyPr>
          <a:lstStyle/>
          <a:p>
            <a:pPr algn="l"/>
            <a:r>
              <a:rPr sz="1050" b="1">
                <a:solidFill>
                  <a:srgbClr val="5353AD"/>
                </a:solidFill>
                <a:latin typeface="Aptos"/>
              </a:rPr>
              <a:t>03</a:t>
            </a:r>
          </a:p>
        </p:txBody>
      </p:sp>
      <p:sp>
        <p:nvSpPr>
          <p:cNvPr id="11" name="TextBox 10"/>
          <p:cNvSpPr txBox="1"/>
          <p:nvPr/>
        </p:nvSpPr>
        <p:spPr>
          <a:xfrm>
            <a:off x="1160041" y="1948918"/>
            <a:ext cx="6949440" cy="347472"/>
          </a:xfrm>
          <a:prstGeom prst="rect">
            <a:avLst/>
          </a:prstGeom>
          <a:noFill/>
        </p:spPr>
        <p:txBody>
          <a:bodyPr wrap="none" anchor="ctr">
            <a:spAutoFit/>
          </a:bodyPr>
          <a:lstStyle/>
          <a:p>
            <a:pPr algn="l"/>
            <a:r>
              <a:rPr sz="1300" b="0">
                <a:solidFill>
                  <a:srgbClr val="1F2937"/>
                </a:solidFill>
                <a:latin typeface="Aptos"/>
              </a:rPr>
              <a:t>Gap Analysis</a:t>
            </a:r>
          </a:p>
        </p:txBody>
      </p:sp>
      <p:cxnSp>
        <p:nvCxnSpPr>
          <p:cNvPr id="12" name="Connector 11"/>
          <p:cNvCxnSpPr/>
          <p:nvPr/>
        </p:nvCxnSpPr>
        <p:spPr>
          <a:xfrm>
            <a:off x="1170432" y="2298053"/>
            <a:ext cx="7013447" cy="0"/>
          </a:xfrm>
          <a:prstGeom prst="line">
            <a:avLst/>
          </a:prstGeom>
          <a:ln w="8890">
            <a:solidFill>
              <a:srgbClr val="E0E2E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1792" y="2426069"/>
            <a:ext cx="411480" cy="310896"/>
          </a:xfrm>
          <a:prstGeom prst="rect">
            <a:avLst/>
          </a:prstGeom>
          <a:noFill/>
        </p:spPr>
        <p:txBody>
          <a:bodyPr wrap="none" anchor="ctr">
            <a:spAutoFit/>
          </a:bodyPr>
          <a:lstStyle/>
          <a:p>
            <a:pPr algn="l"/>
            <a:r>
              <a:rPr sz="1050" b="1">
                <a:solidFill>
                  <a:srgbClr val="5353AD"/>
                </a:solidFill>
                <a:latin typeface="Aptos"/>
              </a:rPr>
              <a:t>04</a:t>
            </a:r>
          </a:p>
        </p:txBody>
      </p:sp>
      <p:sp>
        <p:nvSpPr>
          <p:cNvPr id="14" name="TextBox 13"/>
          <p:cNvSpPr txBox="1"/>
          <p:nvPr/>
        </p:nvSpPr>
        <p:spPr>
          <a:xfrm>
            <a:off x="1170432" y="2407781"/>
            <a:ext cx="6949440" cy="347472"/>
          </a:xfrm>
          <a:prstGeom prst="rect">
            <a:avLst/>
          </a:prstGeom>
          <a:noFill/>
        </p:spPr>
        <p:txBody>
          <a:bodyPr wrap="none" anchor="ctr">
            <a:spAutoFit/>
          </a:bodyPr>
          <a:lstStyle/>
          <a:p>
            <a:pPr algn="l"/>
            <a:r>
              <a:rPr sz="1300" b="0">
                <a:solidFill>
                  <a:srgbClr val="1F2937"/>
                </a:solidFill>
                <a:latin typeface="Aptos"/>
              </a:rPr>
              <a:t>Problem Statement</a:t>
            </a:r>
          </a:p>
        </p:txBody>
      </p:sp>
      <p:cxnSp>
        <p:nvCxnSpPr>
          <p:cNvPr id="15" name="Connector 14"/>
          <p:cNvCxnSpPr/>
          <p:nvPr/>
        </p:nvCxnSpPr>
        <p:spPr>
          <a:xfrm>
            <a:off x="1170432" y="2725743"/>
            <a:ext cx="7013447" cy="0"/>
          </a:xfrm>
          <a:prstGeom prst="line">
            <a:avLst/>
          </a:prstGeom>
          <a:ln w="8890">
            <a:solidFill>
              <a:srgbClr val="E0E2E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21792" y="2853759"/>
            <a:ext cx="411480" cy="310896"/>
          </a:xfrm>
          <a:prstGeom prst="rect">
            <a:avLst/>
          </a:prstGeom>
          <a:noFill/>
        </p:spPr>
        <p:txBody>
          <a:bodyPr wrap="none" anchor="ctr">
            <a:spAutoFit/>
          </a:bodyPr>
          <a:lstStyle/>
          <a:p>
            <a:pPr algn="l"/>
            <a:r>
              <a:rPr sz="1050" b="1">
                <a:solidFill>
                  <a:srgbClr val="5353AD"/>
                </a:solidFill>
                <a:latin typeface="Aptos"/>
              </a:rPr>
              <a:t>05</a:t>
            </a:r>
          </a:p>
        </p:txBody>
      </p:sp>
      <p:sp>
        <p:nvSpPr>
          <p:cNvPr id="17" name="TextBox 16"/>
          <p:cNvSpPr txBox="1"/>
          <p:nvPr/>
        </p:nvSpPr>
        <p:spPr>
          <a:xfrm>
            <a:off x="1170432" y="2835471"/>
            <a:ext cx="6949440" cy="347472"/>
          </a:xfrm>
          <a:prstGeom prst="rect">
            <a:avLst/>
          </a:prstGeom>
          <a:noFill/>
        </p:spPr>
        <p:txBody>
          <a:bodyPr wrap="none" anchor="ctr">
            <a:spAutoFit/>
          </a:bodyPr>
          <a:lstStyle/>
          <a:p>
            <a:pPr algn="l"/>
            <a:r>
              <a:rPr sz="1300" b="0">
                <a:solidFill>
                  <a:srgbClr val="1F2937"/>
                </a:solidFill>
                <a:latin typeface="Aptos"/>
              </a:rPr>
              <a:t>Proposed Solution &amp; Methodology</a:t>
            </a:r>
          </a:p>
        </p:txBody>
      </p:sp>
      <p:cxnSp>
        <p:nvCxnSpPr>
          <p:cNvPr id="18" name="Connector 17"/>
          <p:cNvCxnSpPr/>
          <p:nvPr/>
        </p:nvCxnSpPr>
        <p:spPr>
          <a:xfrm>
            <a:off x="1170432" y="3174215"/>
            <a:ext cx="7013447" cy="0"/>
          </a:xfrm>
          <a:prstGeom prst="line">
            <a:avLst/>
          </a:prstGeom>
          <a:ln w="8890">
            <a:solidFill>
              <a:srgbClr val="E0E2E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1792" y="3302230"/>
            <a:ext cx="411480" cy="310896"/>
          </a:xfrm>
          <a:prstGeom prst="rect">
            <a:avLst/>
          </a:prstGeom>
          <a:noFill/>
        </p:spPr>
        <p:txBody>
          <a:bodyPr wrap="none" anchor="ctr">
            <a:spAutoFit/>
          </a:bodyPr>
          <a:lstStyle/>
          <a:p>
            <a:pPr algn="l"/>
            <a:r>
              <a:rPr sz="1050" b="1">
                <a:solidFill>
                  <a:srgbClr val="5353AD"/>
                </a:solidFill>
                <a:latin typeface="Aptos"/>
              </a:rPr>
              <a:t>06</a:t>
            </a:r>
          </a:p>
        </p:txBody>
      </p:sp>
      <p:sp>
        <p:nvSpPr>
          <p:cNvPr id="20" name="TextBox 19"/>
          <p:cNvSpPr txBox="1"/>
          <p:nvPr/>
        </p:nvSpPr>
        <p:spPr>
          <a:xfrm>
            <a:off x="1170432" y="3311485"/>
            <a:ext cx="2311851" cy="292388"/>
          </a:xfrm>
          <a:prstGeom prst="rect">
            <a:avLst/>
          </a:prstGeom>
          <a:noFill/>
        </p:spPr>
        <p:txBody>
          <a:bodyPr wrap="none" lIns="91440" tIns="45720" rIns="91440" bIns="45720" anchor="ctr">
            <a:spAutoFit/>
          </a:bodyPr>
          <a:lstStyle/>
          <a:p>
            <a:r>
              <a:rPr lang="en-US" sz="1300" dirty="0">
                <a:solidFill>
                  <a:srgbClr val="1F2937"/>
                </a:solidFill>
                <a:latin typeface="Aptos"/>
              </a:rPr>
              <a:t>Complex Computing Problem</a:t>
            </a:r>
            <a:endParaRPr lang="en-US" dirty="0"/>
          </a:p>
        </p:txBody>
      </p:sp>
      <p:cxnSp>
        <p:nvCxnSpPr>
          <p:cNvPr id="21" name="Connector 20"/>
          <p:cNvCxnSpPr/>
          <p:nvPr/>
        </p:nvCxnSpPr>
        <p:spPr>
          <a:xfrm>
            <a:off x="1170432" y="4505913"/>
            <a:ext cx="7013447" cy="0"/>
          </a:xfrm>
          <a:prstGeom prst="line">
            <a:avLst/>
          </a:prstGeom>
          <a:ln w="8890">
            <a:solidFill>
              <a:srgbClr val="E0E2E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1792" y="4662420"/>
            <a:ext cx="328936" cy="253916"/>
          </a:xfrm>
          <a:prstGeom prst="rect">
            <a:avLst/>
          </a:prstGeom>
          <a:noFill/>
        </p:spPr>
        <p:txBody>
          <a:bodyPr wrap="none" lIns="91440" tIns="45720" rIns="91440" bIns="45720" anchor="ctr">
            <a:spAutoFit/>
          </a:bodyPr>
          <a:lstStyle/>
          <a:p>
            <a:pPr algn="l"/>
            <a:r>
              <a:rPr lang="en-US" sz="1050" b="1" dirty="0">
                <a:solidFill>
                  <a:srgbClr val="5353AD"/>
                </a:solidFill>
                <a:latin typeface="Aptos"/>
              </a:rPr>
              <a:t>09</a:t>
            </a:r>
            <a:endParaRPr sz="1050" b="1" dirty="0">
              <a:solidFill>
                <a:srgbClr val="5353AD"/>
              </a:solidFill>
              <a:latin typeface="Aptos"/>
            </a:endParaRPr>
          </a:p>
        </p:txBody>
      </p:sp>
      <p:sp>
        <p:nvSpPr>
          <p:cNvPr id="23" name="TextBox 22"/>
          <p:cNvSpPr txBox="1"/>
          <p:nvPr/>
        </p:nvSpPr>
        <p:spPr>
          <a:xfrm>
            <a:off x="1170432" y="4615642"/>
            <a:ext cx="6949440" cy="347472"/>
          </a:xfrm>
          <a:prstGeom prst="rect">
            <a:avLst/>
          </a:prstGeom>
          <a:noFill/>
        </p:spPr>
        <p:txBody>
          <a:bodyPr wrap="none" anchor="ctr">
            <a:spAutoFit/>
          </a:bodyPr>
          <a:lstStyle/>
          <a:p>
            <a:pPr algn="l"/>
            <a:r>
              <a:rPr sz="1300" b="0">
                <a:solidFill>
                  <a:srgbClr val="1F2937"/>
                </a:solidFill>
                <a:latin typeface="Aptos"/>
              </a:rPr>
              <a:t>Work Breakdown Structure</a:t>
            </a:r>
          </a:p>
        </p:txBody>
      </p:sp>
      <p:cxnSp>
        <p:nvCxnSpPr>
          <p:cNvPr id="24" name="Connector 23"/>
          <p:cNvCxnSpPr/>
          <p:nvPr/>
        </p:nvCxnSpPr>
        <p:spPr>
          <a:xfrm>
            <a:off x="1170432" y="3655522"/>
            <a:ext cx="7013447" cy="0"/>
          </a:xfrm>
          <a:prstGeom prst="line">
            <a:avLst/>
          </a:prstGeom>
          <a:ln w="8890">
            <a:solidFill>
              <a:srgbClr val="E0E2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1792" y="5131674"/>
            <a:ext cx="328936" cy="253916"/>
          </a:xfrm>
          <a:prstGeom prst="rect">
            <a:avLst/>
          </a:prstGeom>
          <a:noFill/>
        </p:spPr>
        <p:txBody>
          <a:bodyPr wrap="none" lIns="91440" tIns="45720" rIns="91440" bIns="45720" anchor="ctr">
            <a:spAutoFit/>
          </a:bodyPr>
          <a:lstStyle/>
          <a:p>
            <a:pPr algn="l"/>
            <a:r>
              <a:rPr lang="en-US" sz="1050" b="1" dirty="0">
                <a:solidFill>
                  <a:srgbClr val="5353AD"/>
                </a:solidFill>
                <a:latin typeface="Aptos"/>
              </a:rPr>
              <a:t>10</a:t>
            </a:r>
            <a:endParaRPr lang="en-US" dirty="0"/>
          </a:p>
        </p:txBody>
      </p:sp>
      <p:sp>
        <p:nvSpPr>
          <p:cNvPr id="26" name="TextBox 25"/>
          <p:cNvSpPr txBox="1"/>
          <p:nvPr/>
        </p:nvSpPr>
        <p:spPr>
          <a:xfrm>
            <a:off x="1170432" y="5105678"/>
            <a:ext cx="6949440" cy="347472"/>
          </a:xfrm>
          <a:prstGeom prst="rect">
            <a:avLst/>
          </a:prstGeom>
          <a:noFill/>
        </p:spPr>
        <p:txBody>
          <a:bodyPr wrap="none" anchor="ctr">
            <a:spAutoFit/>
          </a:bodyPr>
          <a:lstStyle/>
          <a:p>
            <a:pPr algn="l"/>
            <a:r>
              <a:rPr sz="1300" b="0">
                <a:solidFill>
                  <a:srgbClr val="1F2937"/>
                </a:solidFill>
                <a:latin typeface="Aptos"/>
              </a:rPr>
              <a:t>Roles and Responsibilities</a:t>
            </a:r>
          </a:p>
        </p:txBody>
      </p:sp>
      <p:cxnSp>
        <p:nvCxnSpPr>
          <p:cNvPr id="27" name="Connector 26"/>
          <p:cNvCxnSpPr/>
          <p:nvPr/>
        </p:nvCxnSpPr>
        <p:spPr>
          <a:xfrm>
            <a:off x="1170432" y="5683412"/>
            <a:ext cx="7013447" cy="0"/>
          </a:xfrm>
          <a:prstGeom prst="line">
            <a:avLst/>
          </a:prstGeom>
          <a:ln w="8890">
            <a:solidFill>
              <a:srgbClr val="E0E2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29" name="TextBox 28"/>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03</a:t>
            </a:r>
          </a:p>
        </p:txBody>
      </p:sp>
      <p:sp>
        <p:nvSpPr>
          <p:cNvPr id="33" name="TextBox 32">
            <a:extLst>
              <a:ext uri="{FF2B5EF4-FFF2-40B4-BE49-F238E27FC236}">
                <a16:creationId xmlns:a16="http://schemas.microsoft.com/office/drawing/2014/main" id="{F478222A-0564-DA2A-96B0-FBBB2EEEACBE}"/>
              </a:ext>
            </a:extLst>
          </p:cNvPr>
          <p:cNvSpPr txBox="1"/>
          <p:nvPr/>
        </p:nvSpPr>
        <p:spPr>
          <a:xfrm>
            <a:off x="1161195" y="3760770"/>
            <a:ext cx="6949440" cy="347472"/>
          </a:xfrm>
          <a:prstGeom prst="rect">
            <a:avLst/>
          </a:prstGeom>
          <a:noFill/>
        </p:spPr>
        <p:txBody>
          <a:bodyPr wrap="none" anchor="ctr">
            <a:spAutoFit/>
          </a:bodyPr>
          <a:lstStyle/>
          <a:p>
            <a:pPr algn="l"/>
            <a:r>
              <a:rPr sz="1300" b="0">
                <a:solidFill>
                  <a:srgbClr val="1F2937"/>
                </a:solidFill>
                <a:latin typeface="Aptos"/>
              </a:rPr>
              <a:t>Project Scope</a:t>
            </a:r>
          </a:p>
        </p:txBody>
      </p:sp>
      <p:sp>
        <p:nvSpPr>
          <p:cNvPr id="34" name="TextBox 33">
            <a:extLst>
              <a:ext uri="{FF2B5EF4-FFF2-40B4-BE49-F238E27FC236}">
                <a16:creationId xmlns:a16="http://schemas.microsoft.com/office/drawing/2014/main" id="{D6D2FAD4-17D7-C707-6752-3C917980ABFA}"/>
              </a:ext>
            </a:extLst>
          </p:cNvPr>
          <p:cNvSpPr txBox="1"/>
          <p:nvPr/>
        </p:nvSpPr>
        <p:spPr>
          <a:xfrm>
            <a:off x="621790" y="3756747"/>
            <a:ext cx="328936" cy="253916"/>
          </a:xfrm>
          <a:prstGeom prst="rect">
            <a:avLst/>
          </a:prstGeom>
          <a:noFill/>
        </p:spPr>
        <p:txBody>
          <a:bodyPr wrap="none" lIns="91440" tIns="45720" rIns="91440" bIns="45720" anchor="ctr">
            <a:spAutoFit/>
          </a:bodyPr>
          <a:lstStyle/>
          <a:p>
            <a:pPr algn="l"/>
            <a:r>
              <a:rPr lang="en-US" sz="1050" b="1" dirty="0">
                <a:solidFill>
                  <a:srgbClr val="5353AD"/>
                </a:solidFill>
                <a:latin typeface="Aptos"/>
              </a:rPr>
              <a:t>07</a:t>
            </a:r>
            <a:endParaRPr sz="1050" b="1" dirty="0">
              <a:solidFill>
                <a:srgbClr val="5353AD"/>
              </a:solidFill>
              <a:latin typeface="Aptos"/>
            </a:endParaRPr>
          </a:p>
        </p:txBody>
      </p:sp>
      <p:cxnSp>
        <p:nvCxnSpPr>
          <p:cNvPr id="35" name="Connector 20">
            <a:extLst>
              <a:ext uri="{FF2B5EF4-FFF2-40B4-BE49-F238E27FC236}">
                <a16:creationId xmlns:a16="http://schemas.microsoft.com/office/drawing/2014/main" id="{BD8E6717-CDF3-C9DE-E3A9-23578964436E}"/>
              </a:ext>
            </a:extLst>
          </p:cNvPr>
          <p:cNvCxnSpPr>
            <a:cxnSpLocks/>
          </p:cNvCxnSpPr>
          <p:nvPr/>
        </p:nvCxnSpPr>
        <p:spPr>
          <a:xfrm>
            <a:off x="1201604" y="4059103"/>
            <a:ext cx="7013447" cy="0"/>
          </a:xfrm>
          <a:prstGeom prst="line">
            <a:avLst/>
          </a:prstGeom>
          <a:ln w="8890">
            <a:solidFill>
              <a:srgbClr val="E0E2EE"/>
            </a:solidFill>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B244F84E-E4E9-B0EE-8741-1AB33A85E37A}"/>
              </a:ext>
            </a:extLst>
          </p:cNvPr>
          <p:cNvSpPr txBox="1"/>
          <p:nvPr/>
        </p:nvSpPr>
        <p:spPr>
          <a:xfrm>
            <a:off x="611400" y="4142874"/>
            <a:ext cx="328936" cy="253916"/>
          </a:xfrm>
          <a:prstGeom prst="rect">
            <a:avLst/>
          </a:prstGeom>
          <a:noFill/>
        </p:spPr>
        <p:txBody>
          <a:bodyPr wrap="none" lIns="91440" tIns="45720" rIns="91440" bIns="45720" anchor="ctr">
            <a:spAutoFit/>
          </a:bodyPr>
          <a:lstStyle/>
          <a:p>
            <a:pPr algn="l"/>
            <a:r>
              <a:rPr lang="en-US" sz="1050" b="1" dirty="0">
                <a:solidFill>
                  <a:srgbClr val="5353AD"/>
                </a:solidFill>
                <a:latin typeface="Aptos"/>
              </a:rPr>
              <a:t>08</a:t>
            </a:r>
            <a:endParaRPr sz="1050" b="1" dirty="0">
              <a:solidFill>
                <a:srgbClr val="5353AD"/>
              </a:solidFill>
              <a:latin typeface="Aptos"/>
            </a:endParaRPr>
          </a:p>
        </p:txBody>
      </p:sp>
      <p:sp>
        <p:nvSpPr>
          <p:cNvPr id="37" name="TextBox 36">
            <a:extLst>
              <a:ext uri="{FF2B5EF4-FFF2-40B4-BE49-F238E27FC236}">
                <a16:creationId xmlns:a16="http://schemas.microsoft.com/office/drawing/2014/main" id="{26130507-D7D3-78F8-F922-A35D7CCA9DCF}"/>
              </a:ext>
            </a:extLst>
          </p:cNvPr>
          <p:cNvSpPr txBox="1"/>
          <p:nvPr/>
        </p:nvSpPr>
        <p:spPr>
          <a:xfrm>
            <a:off x="1160964" y="4164278"/>
            <a:ext cx="2013693" cy="292388"/>
          </a:xfrm>
          <a:prstGeom prst="rect">
            <a:avLst/>
          </a:prstGeom>
          <a:noFill/>
        </p:spPr>
        <p:txBody>
          <a:bodyPr wrap="none" lIns="91440" tIns="45720" rIns="91440" bIns="45720" anchor="ctr">
            <a:spAutoFit/>
          </a:bodyPr>
          <a:lstStyle/>
          <a:p>
            <a:r>
              <a:rPr lang="en-US" sz="1300" dirty="0">
                <a:solidFill>
                  <a:srgbClr val="1F2937"/>
                </a:solidFill>
                <a:latin typeface="Aptos"/>
              </a:rPr>
              <a:t>Constraints &amp; Limitations</a:t>
            </a:r>
            <a:endParaRPr lang="en-US" dirty="0"/>
          </a:p>
        </p:txBody>
      </p:sp>
      <p:cxnSp>
        <p:nvCxnSpPr>
          <p:cNvPr id="39" name="Connector 23">
            <a:extLst>
              <a:ext uri="{FF2B5EF4-FFF2-40B4-BE49-F238E27FC236}">
                <a16:creationId xmlns:a16="http://schemas.microsoft.com/office/drawing/2014/main" id="{41C9BCA7-996F-A336-3E46-E3F5F53F1210}"/>
              </a:ext>
            </a:extLst>
          </p:cNvPr>
          <p:cNvCxnSpPr>
            <a:cxnSpLocks/>
          </p:cNvCxnSpPr>
          <p:nvPr/>
        </p:nvCxnSpPr>
        <p:spPr>
          <a:xfrm>
            <a:off x="1211995" y="5079075"/>
            <a:ext cx="7013447" cy="0"/>
          </a:xfrm>
          <a:prstGeom prst="line">
            <a:avLst/>
          </a:prstGeom>
          <a:ln w="8890">
            <a:solidFill>
              <a:srgbClr val="E0E2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cxnSp>
        <p:nvCxnSpPr>
          <p:cNvPr id="2" name="Connector 1"/>
          <p:cNvCxnSpPr/>
          <p:nvPr/>
        </p:nvCxnSpPr>
        <p:spPr>
          <a:xfrm>
            <a:off x="777240" y="4005072"/>
            <a:ext cx="548640" cy="0"/>
          </a:xfrm>
          <a:prstGeom prst="line">
            <a:avLst/>
          </a:prstGeom>
          <a:ln w="33020">
            <a:solidFill>
              <a:srgbClr val="CF8F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4224528"/>
            <a:ext cx="7498079" cy="658368"/>
          </a:xfrm>
          <a:prstGeom prst="rect">
            <a:avLst/>
          </a:prstGeom>
          <a:noFill/>
        </p:spPr>
        <p:txBody>
          <a:bodyPr wrap="none" anchor="ctr">
            <a:spAutoFit/>
          </a:bodyPr>
          <a:lstStyle/>
          <a:p>
            <a:pPr algn="l"/>
            <a:r>
              <a:rPr sz="2200" b="1">
                <a:solidFill>
                  <a:srgbClr val="1D3C68"/>
                </a:solidFill>
                <a:latin typeface="Aptos"/>
              </a:rPr>
              <a:t>INTRODUCTION AND BACKGROUND</a:t>
            </a:r>
          </a:p>
        </p:txBody>
      </p:sp>
      <p:sp>
        <p:nvSpPr>
          <p:cNvPr id="4" name="TextBox 3"/>
          <p:cNvSpPr txBox="1"/>
          <p:nvPr/>
        </p:nvSpPr>
        <p:spPr>
          <a:xfrm>
            <a:off x="7818120" y="4251960"/>
            <a:ext cx="502920" cy="365760"/>
          </a:xfrm>
          <a:prstGeom prst="rect">
            <a:avLst/>
          </a:prstGeom>
          <a:noFill/>
        </p:spPr>
        <p:txBody>
          <a:bodyPr wrap="none" anchor="ctr">
            <a:spAutoFit/>
          </a:bodyPr>
          <a:lstStyle/>
          <a:p>
            <a:pPr algn="r"/>
            <a:r>
              <a:rPr sz="1000" b="1">
                <a:solidFill>
                  <a:srgbClr val="5353AD"/>
                </a:solidFill>
                <a:latin typeface="Aptos"/>
              </a:rPr>
              <a:t>01</a:t>
            </a:r>
          </a:p>
        </p:txBody>
      </p:sp>
      <p:sp>
        <p:nvSpPr>
          <p:cNvPr id="5" name="TextBox 4"/>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6" name="TextBox 5"/>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2" name="TextBox 1"/>
          <p:cNvSpPr txBox="1"/>
          <p:nvPr/>
        </p:nvSpPr>
        <p:spPr>
          <a:xfrm>
            <a:off x="502920" y="246888"/>
            <a:ext cx="7132320" cy="411480"/>
          </a:xfrm>
          <a:prstGeom prst="rect">
            <a:avLst/>
          </a:prstGeom>
          <a:noFill/>
        </p:spPr>
        <p:txBody>
          <a:bodyPr wrap="none" anchor="ctr">
            <a:spAutoFit/>
          </a:bodyPr>
          <a:lstStyle/>
          <a:p>
            <a:pPr algn="l"/>
            <a:r>
              <a:rPr sz="1900" b="1">
                <a:solidFill>
                  <a:srgbClr val="1D3C68"/>
                </a:solidFill>
                <a:latin typeface="Aptos"/>
              </a:rPr>
              <a:t>Introduction and Background</a:t>
            </a:r>
          </a:p>
        </p:txBody>
      </p:sp>
      <p:cxnSp>
        <p:nvCxnSpPr>
          <p:cNvPr id="3" name="Connector 2"/>
          <p:cNvCxnSpPr/>
          <p:nvPr/>
        </p:nvCxnSpPr>
        <p:spPr>
          <a:xfrm>
            <a:off x="502920" y="749808"/>
            <a:ext cx="612648" cy="0"/>
          </a:xfrm>
          <a:prstGeom prst="line">
            <a:avLst/>
          </a:prstGeom>
          <a:ln w="27940">
            <a:solidFill>
              <a:srgbClr val="CF8F2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75320" y="246888"/>
            <a:ext cx="411480" cy="320040"/>
          </a:xfrm>
          <a:prstGeom prst="rect">
            <a:avLst/>
          </a:prstGeom>
          <a:noFill/>
        </p:spPr>
        <p:txBody>
          <a:bodyPr wrap="none" anchor="ctr">
            <a:spAutoFit/>
          </a:bodyPr>
          <a:lstStyle/>
          <a:p>
            <a:pPr algn="r"/>
            <a:r>
              <a:rPr sz="1000" b="1">
                <a:solidFill>
                  <a:srgbClr val="5353AD"/>
                </a:solidFill>
                <a:latin typeface="Aptos"/>
              </a:rPr>
              <a:t>01</a:t>
            </a:r>
          </a:p>
        </p:txBody>
      </p:sp>
      <p:sp>
        <p:nvSpPr>
          <p:cNvPr id="9" name="TextBox 8"/>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10" name="TextBox 9"/>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05</a:t>
            </a:r>
          </a:p>
        </p:txBody>
      </p:sp>
      <p:sp>
        <p:nvSpPr>
          <p:cNvPr id="11" name="TextBox 10">
            <a:extLst>
              <a:ext uri="{FF2B5EF4-FFF2-40B4-BE49-F238E27FC236}">
                <a16:creationId xmlns:a16="http://schemas.microsoft.com/office/drawing/2014/main" id="{E3C83712-45F9-89C5-232C-BB9FFC6BEA3B}"/>
              </a:ext>
            </a:extLst>
          </p:cNvPr>
          <p:cNvSpPr txBox="1"/>
          <p:nvPr/>
        </p:nvSpPr>
        <p:spPr>
          <a:xfrm>
            <a:off x="195146" y="878158"/>
            <a:ext cx="871189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Char char="•"/>
            </a:pPr>
            <a:r>
              <a:rPr lang="en-US" b="1" dirty="0"/>
              <a:t>Medication non-adherence is a major global health problem</a:t>
            </a:r>
            <a:r>
              <a:rPr lang="en-US" dirty="0"/>
              <a:t>, especially among chronic and elderly patients.</a:t>
            </a:r>
            <a:endParaRPr lang="en-US"/>
          </a:p>
          <a:p>
            <a:pPr marL="285750" indent="-285750" algn="just">
              <a:buChar char="•"/>
            </a:pPr>
            <a:endParaRPr lang="en-US" dirty="0"/>
          </a:p>
          <a:p>
            <a:pPr marL="285750" indent="-285750" algn="just">
              <a:buChar char="•"/>
            </a:pPr>
            <a:r>
              <a:rPr lang="en-US" b="1" dirty="0"/>
              <a:t>Existing solutions mainly focus on reminders</a:t>
            </a:r>
            <a:r>
              <a:rPr lang="en-US" dirty="0"/>
              <a:t> and do not provide deeper behavior analysis or care coordination.</a:t>
            </a:r>
            <a:endParaRPr lang="en-US"/>
          </a:p>
          <a:p>
            <a:pPr marL="285750" indent="-285750" algn="just">
              <a:buChar char="•"/>
            </a:pPr>
            <a:endParaRPr lang="en-US" dirty="0"/>
          </a:p>
          <a:p>
            <a:pPr marL="285750" indent="-285750" algn="just">
              <a:buChar char="•"/>
            </a:pPr>
            <a:r>
              <a:rPr lang="en-US" b="1" dirty="0" err="1"/>
              <a:t>CareLink</a:t>
            </a:r>
            <a:r>
              <a:rPr lang="en-US" b="1" dirty="0"/>
              <a:t> moves beyond reminders</a:t>
            </a:r>
            <a:r>
              <a:rPr lang="en-US" dirty="0"/>
              <a:t> by monitoring medication events, detecting non-adherence patterns, and coordinating appropriate support.</a:t>
            </a:r>
            <a:endParaRPr lang="en-US"/>
          </a:p>
          <a:p>
            <a:pPr marL="285750" indent="-285750" algn="just">
              <a:buChar char="•"/>
            </a:pPr>
            <a:endParaRPr lang="en-US" dirty="0"/>
          </a:p>
          <a:p>
            <a:pPr marL="285750" indent="-285750" algn="just">
              <a:buChar char="•"/>
            </a:pPr>
            <a:r>
              <a:rPr lang="en-US" dirty="0"/>
              <a:t>The system aims to </a:t>
            </a:r>
            <a:r>
              <a:rPr lang="en-US" b="1" dirty="0"/>
              <a:t>identify problems early</a:t>
            </a:r>
            <a:r>
              <a:rPr lang="en-US" dirty="0"/>
              <a:t> while keeping caregivers and healthcare providers involved.</a:t>
            </a:r>
            <a:endParaRPr lang="en-US"/>
          </a:p>
          <a:p>
            <a:pPr algn="just"/>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cxnSp>
        <p:nvCxnSpPr>
          <p:cNvPr id="2" name="Connector 1"/>
          <p:cNvCxnSpPr/>
          <p:nvPr/>
        </p:nvCxnSpPr>
        <p:spPr>
          <a:xfrm>
            <a:off x="777240" y="4005072"/>
            <a:ext cx="548640" cy="0"/>
          </a:xfrm>
          <a:prstGeom prst="line">
            <a:avLst/>
          </a:prstGeom>
          <a:ln w="33020">
            <a:solidFill>
              <a:srgbClr val="CF8F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4224528"/>
            <a:ext cx="7498079" cy="658368"/>
          </a:xfrm>
          <a:prstGeom prst="rect">
            <a:avLst/>
          </a:prstGeom>
          <a:noFill/>
        </p:spPr>
        <p:txBody>
          <a:bodyPr wrap="none" anchor="ctr">
            <a:spAutoFit/>
          </a:bodyPr>
          <a:lstStyle/>
          <a:p>
            <a:pPr algn="l"/>
            <a:r>
              <a:rPr sz="2200" b="1">
                <a:solidFill>
                  <a:srgbClr val="1D3C68"/>
                </a:solidFill>
                <a:latin typeface="Aptos"/>
              </a:rPr>
              <a:t>LITERATURE REVIEW</a:t>
            </a:r>
          </a:p>
        </p:txBody>
      </p:sp>
      <p:sp>
        <p:nvSpPr>
          <p:cNvPr id="4" name="TextBox 3"/>
          <p:cNvSpPr txBox="1"/>
          <p:nvPr/>
        </p:nvSpPr>
        <p:spPr>
          <a:xfrm>
            <a:off x="7818120" y="4251960"/>
            <a:ext cx="502920" cy="365760"/>
          </a:xfrm>
          <a:prstGeom prst="rect">
            <a:avLst/>
          </a:prstGeom>
          <a:noFill/>
        </p:spPr>
        <p:txBody>
          <a:bodyPr wrap="none" anchor="ctr">
            <a:spAutoFit/>
          </a:bodyPr>
          <a:lstStyle/>
          <a:p>
            <a:pPr algn="r"/>
            <a:r>
              <a:rPr sz="1000" b="1">
                <a:solidFill>
                  <a:srgbClr val="5353AD"/>
                </a:solidFill>
                <a:latin typeface="Aptos"/>
              </a:rPr>
              <a:t>02</a:t>
            </a:r>
          </a:p>
        </p:txBody>
      </p:sp>
      <p:sp>
        <p:nvSpPr>
          <p:cNvPr id="5" name="TextBox 4"/>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6" name="TextBox 5"/>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2" name="TextBox 1"/>
          <p:cNvSpPr txBox="1"/>
          <p:nvPr/>
        </p:nvSpPr>
        <p:spPr>
          <a:xfrm>
            <a:off x="502920" y="246888"/>
            <a:ext cx="7132320" cy="411480"/>
          </a:xfrm>
          <a:prstGeom prst="rect">
            <a:avLst/>
          </a:prstGeom>
          <a:noFill/>
        </p:spPr>
        <p:txBody>
          <a:bodyPr wrap="none" anchor="ctr">
            <a:spAutoFit/>
          </a:bodyPr>
          <a:lstStyle/>
          <a:p>
            <a:pPr algn="l"/>
            <a:r>
              <a:rPr sz="1900" b="1">
                <a:solidFill>
                  <a:srgbClr val="1D3C68"/>
                </a:solidFill>
                <a:latin typeface="Aptos"/>
              </a:rPr>
              <a:t>Literature Review</a:t>
            </a:r>
          </a:p>
        </p:txBody>
      </p:sp>
      <p:cxnSp>
        <p:nvCxnSpPr>
          <p:cNvPr id="3" name="Connector 2"/>
          <p:cNvCxnSpPr/>
          <p:nvPr/>
        </p:nvCxnSpPr>
        <p:spPr>
          <a:xfrm>
            <a:off x="502920" y="749808"/>
            <a:ext cx="612648" cy="0"/>
          </a:xfrm>
          <a:prstGeom prst="line">
            <a:avLst/>
          </a:prstGeom>
          <a:ln w="27940">
            <a:solidFill>
              <a:srgbClr val="CF8F2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75320" y="246888"/>
            <a:ext cx="411480" cy="320040"/>
          </a:xfrm>
          <a:prstGeom prst="rect">
            <a:avLst/>
          </a:prstGeom>
          <a:noFill/>
        </p:spPr>
        <p:txBody>
          <a:bodyPr wrap="none" anchor="ctr">
            <a:spAutoFit/>
          </a:bodyPr>
          <a:lstStyle/>
          <a:p>
            <a:pPr algn="r"/>
            <a:r>
              <a:rPr sz="1000" b="1">
                <a:solidFill>
                  <a:srgbClr val="5353AD"/>
                </a:solidFill>
                <a:latin typeface="Aptos"/>
              </a:rPr>
              <a:t>02</a:t>
            </a:r>
          </a:p>
        </p:txBody>
      </p:sp>
      <p:sp>
        <p:nvSpPr>
          <p:cNvPr id="6" name="TextBox 5"/>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7" name="TextBox 6"/>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07</a:t>
            </a:r>
          </a:p>
        </p:txBody>
      </p:sp>
      <p:graphicFrame>
        <p:nvGraphicFramePr>
          <p:cNvPr id="8" name="Table 7">
            <a:extLst>
              <a:ext uri="{FF2B5EF4-FFF2-40B4-BE49-F238E27FC236}">
                <a16:creationId xmlns:a16="http://schemas.microsoft.com/office/drawing/2014/main" id="{64BC1765-4634-80EE-2744-2C1AF9F107C4}"/>
              </a:ext>
            </a:extLst>
          </p:cNvPr>
          <p:cNvGraphicFramePr>
            <a:graphicFrameLocks noGrp="1"/>
          </p:cNvGraphicFramePr>
          <p:nvPr>
            <p:extLst>
              <p:ext uri="{D42A27DB-BD31-4B8C-83A1-F6EECF244321}">
                <p14:modId xmlns:p14="http://schemas.microsoft.com/office/powerpoint/2010/main" val="77217207"/>
              </p:ext>
            </p:extLst>
          </p:nvPr>
        </p:nvGraphicFramePr>
        <p:xfrm>
          <a:off x="41563" y="41563"/>
          <a:ext cx="9088667" cy="5666682"/>
        </p:xfrm>
        <a:graphic>
          <a:graphicData uri="http://schemas.openxmlformats.org/drawingml/2006/table">
            <a:tbl>
              <a:tblPr firstRow="1" bandRow="1">
                <a:tableStyleId>{5C22544A-7EE6-4342-B048-85BDC9FD1C3A}</a:tableStyleId>
              </a:tblPr>
              <a:tblGrid>
                <a:gridCol w="2568105">
                  <a:extLst>
                    <a:ext uri="{9D8B030D-6E8A-4147-A177-3AD203B41FA5}">
                      <a16:colId xmlns:a16="http://schemas.microsoft.com/office/drawing/2014/main" val="625569772"/>
                    </a:ext>
                  </a:extLst>
                </a:gridCol>
                <a:gridCol w="4142402">
                  <a:extLst>
                    <a:ext uri="{9D8B030D-6E8A-4147-A177-3AD203B41FA5}">
                      <a16:colId xmlns:a16="http://schemas.microsoft.com/office/drawing/2014/main" val="1728373796"/>
                    </a:ext>
                  </a:extLst>
                </a:gridCol>
                <a:gridCol w="2378160">
                  <a:extLst>
                    <a:ext uri="{9D8B030D-6E8A-4147-A177-3AD203B41FA5}">
                      <a16:colId xmlns:a16="http://schemas.microsoft.com/office/drawing/2014/main" val="2480854754"/>
                    </a:ext>
                  </a:extLst>
                </a:gridCol>
              </a:tblGrid>
              <a:tr h="504309">
                <a:tc>
                  <a:txBody>
                    <a:bodyPr/>
                    <a:lstStyle/>
                    <a:p>
                      <a:r>
                        <a:rPr lang="en-US" dirty="0"/>
                        <a:t>Source (Year)</a:t>
                      </a:r>
                    </a:p>
                  </a:txBody>
                  <a:tcPr/>
                </a:tc>
                <a:tc>
                  <a:txBody>
                    <a:bodyPr/>
                    <a:lstStyle/>
                    <a:p>
                      <a:r>
                        <a:rPr lang="en-US" dirty="0"/>
                        <a:t>Key Findings</a:t>
                      </a:r>
                    </a:p>
                  </a:txBody>
                  <a:tcPr/>
                </a:tc>
                <a:tc>
                  <a:txBody>
                    <a:bodyPr/>
                    <a:lstStyle/>
                    <a:p>
                      <a:r>
                        <a:rPr lang="en-US" dirty="0"/>
                        <a:t>Gap / Limitations</a:t>
                      </a:r>
                    </a:p>
                  </a:txBody>
                  <a:tcPr/>
                </a:tc>
                <a:extLst>
                  <a:ext uri="{0D108BD9-81ED-4DB2-BD59-A6C34878D82A}">
                    <a16:rowId xmlns:a16="http://schemas.microsoft.com/office/drawing/2014/main" val="3508086122"/>
                  </a:ext>
                </a:extLst>
              </a:tr>
              <a:tr h="1779093">
                <a:tc>
                  <a:txBody>
                    <a:bodyPr/>
                    <a:lstStyle/>
                    <a:p>
                      <a:pPr lvl="0">
                        <a:buNone/>
                      </a:pPr>
                      <a:r>
                        <a:rPr lang="en-US" sz="1400" b="0" i="0" u="none" strike="noStrike" noProof="0" dirty="0">
                          <a:latin typeface="Arial"/>
                          <a:cs typeface="Arial"/>
                          <a:hlinkClick r:id="rId3"/>
                        </a:rPr>
                        <a:t>Gu et al. (2021) – Sci Rep</a:t>
                      </a:r>
                    </a:p>
                    <a:p>
                      <a:pPr lvl="0">
                        <a:buNone/>
                      </a:pPr>
                      <a:endParaRPr lang="en-US" sz="1200" b="0" i="0" u="none" strike="noStrike" noProof="0" dirty="0">
                        <a:latin typeface="Arial"/>
                        <a:cs typeface="Arial"/>
                      </a:endParaRPr>
                    </a:p>
                  </a:txBody>
                  <a:tcPr/>
                </a:tc>
                <a:tc>
                  <a:txBody>
                    <a:bodyPr/>
                    <a:lstStyle/>
                    <a:p>
                      <a:pPr lvl="0">
                        <a:buNone/>
                      </a:pPr>
                      <a:r>
                        <a:rPr lang="en-US" sz="1400" b="0" i="0" u="none" strike="noStrike" noProof="0" dirty="0">
                          <a:latin typeface="Arial"/>
                          <a:cs typeface="Arial"/>
                        </a:rPr>
                        <a:t>Applied ensemble and LSTM models to predict adherence in patients self-injecting medication. Achieved 77.3% accuracy (AUC 0.839) on a large real-world dataset (342K injection records). Shows ML can accurately forecast non-adherence in chronic therapy. </a:t>
                      </a:r>
                      <a:endParaRPr lang="en-US" dirty="0"/>
                    </a:p>
                  </a:txBody>
                  <a:tcPr/>
                </a:tc>
                <a:tc>
                  <a:txBody>
                    <a:bodyPr/>
                    <a:lstStyle/>
                    <a:p>
                      <a:pPr lvl="0">
                        <a:buNone/>
                      </a:pPr>
                      <a:r>
                        <a:rPr lang="en-US" sz="1400" b="0" i="0" u="none" strike="noStrike" noProof="0" dirty="0">
                          <a:latin typeface="Arial"/>
                          <a:cs typeface="Arial"/>
                        </a:rPr>
                        <a:t>Focused on one medication type (injectables) and one patient population. Limited by reliance on specialized hardware (smart sharps bin) and event-history data. </a:t>
                      </a:r>
                      <a:endParaRPr lang="en-US" dirty="0"/>
                    </a:p>
                  </a:txBody>
                  <a:tcPr/>
                </a:tc>
                <a:extLst>
                  <a:ext uri="{0D108BD9-81ED-4DB2-BD59-A6C34878D82A}">
                    <a16:rowId xmlns:a16="http://schemas.microsoft.com/office/drawing/2014/main" val="683282942"/>
                  </a:ext>
                </a:extLst>
              </a:tr>
              <a:tr h="1568962">
                <a:tc>
                  <a:txBody>
                    <a:bodyPr/>
                    <a:lstStyle/>
                    <a:p>
                      <a:pPr lvl="0">
                        <a:buNone/>
                      </a:pPr>
                      <a:r>
                        <a:rPr lang="en-US" sz="1400" b="0" i="0" u="none" strike="noStrike" noProof="0" dirty="0">
                          <a:latin typeface="Arial"/>
                          <a:cs typeface="Arial"/>
                          <a:hlinkClick r:id="rId4"/>
                        </a:rPr>
                        <a:t>Bashir et al. (2026) – Front. Digital Health</a:t>
                      </a:r>
                      <a:endParaRPr lang="en-US" dirty="0">
                        <a:hlinkClick r:id="rId4"/>
                      </a:endParaRPr>
                    </a:p>
                  </a:txBody>
                  <a:tcPr/>
                </a:tc>
                <a:tc>
                  <a:txBody>
                    <a:bodyPr/>
                    <a:lstStyle/>
                    <a:p>
                      <a:pPr lvl="0">
                        <a:buNone/>
                      </a:pPr>
                      <a:r>
                        <a:rPr lang="en-US" sz="1400" b="0" i="0" u="none" strike="noStrike" noProof="0" dirty="0">
                          <a:latin typeface="Arial"/>
                          <a:cs typeface="Arial"/>
                        </a:rPr>
                        <a:t>Narrative review: 40–50% global nonadherence in chronic care; AI/ML models using EHR, pharmacy data, and sociodemographic inputs can predict nonadherence (reported AUC 0.70–0.95). Promising results in many diseases</a:t>
                      </a:r>
                      <a:endParaRPr lang="en-US" dirty="0"/>
                    </a:p>
                  </a:txBody>
                  <a:tcPr/>
                </a:tc>
                <a:tc>
                  <a:txBody>
                    <a:bodyPr/>
                    <a:lstStyle/>
                    <a:p>
                      <a:pPr lvl="0">
                        <a:buNone/>
                      </a:pPr>
                      <a:r>
                        <a:rPr lang="en-US" sz="1400" b="0" i="0" u="none" strike="noStrike" noProof="0" dirty="0">
                          <a:latin typeface="Arial"/>
                          <a:cs typeface="Arial"/>
                        </a:rPr>
                        <a:t>Highlights major barriers: lack of external validation, algorithmic bias, limited interpretability and privacy concerns. Emphasizes need for clinician oversight and equity</a:t>
                      </a:r>
                      <a:endParaRPr lang="en-US" dirty="0"/>
                    </a:p>
                  </a:txBody>
                  <a:tcPr/>
                </a:tc>
                <a:extLst>
                  <a:ext uri="{0D108BD9-81ED-4DB2-BD59-A6C34878D82A}">
                    <a16:rowId xmlns:a16="http://schemas.microsoft.com/office/drawing/2014/main" val="1033945093"/>
                  </a:ext>
                </a:extLst>
              </a:tr>
              <a:tr h="1779093">
                <a:tc>
                  <a:txBody>
                    <a:bodyPr/>
                    <a:lstStyle/>
                    <a:p>
                      <a:pPr lvl="0">
                        <a:buNone/>
                      </a:pPr>
                      <a:r>
                        <a:rPr lang="en-US" sz="1400" b="0" i="0" u="none" strike="noStrike" noProof="0" dirty="0">
                          <a:latin typeface="Arial"/>
                          <a:cs typeface="Arial"/>
                        </a:rPr>
                        <a:t>Nascimento et al. (2025) – Front. Digital Health</a:t>
                      </a:r>
                      <a:endParaRPr lang="en-US" dirty="0"/>
                    </a:p>
                  </a:txBody>
                  <a:tcPr/>
                </a:tc>
                <a:tc>
                  <a:txBody>
                    <a:bodyPr/>
                    <a:lstStyle/>
                    <a:p>
                      <a:pPr lvl="0">
                        <a:buNone/>
                      </a:pPr>
                      <a:r>
                        <a:rPr lang="en-US" sz="1400" b="0" i="0" u="none" strike="noStrike" noProof="0" dirty="0">
                          <a:latin typeface="Arial"/>
                          <a:cs typeface="Arial"/>
                        </a:rPr>
                        <a:t>Systematic review of AI tools for adherence: concludes evidence is weak but promising. Some trials showed ML-driven alerts could modestly improve adherence (6% absolute increase). AI tools can potentially reduce clinic visits by focusing on </a:t>
                      </a:r>
                      <a:r>
                        <a:rPr lang="en-US" sz="1400" b="0" i="0" u="none" strike="noStrike" noProof="0" dirty="0" err="1">
                          <a:latin typeface="Arial"/>
                          <a:cs typeface="Arial"/>
                        </a:rPr>
                        <a:t>highrisk</a:t>
                      </a:r>
                      <a:r>
                        <a:rPr lang="en-US" sz="1400" b="0" i="0" u="none" strike="noStrike" noProof="0" dirty="0">
                          <a:latin typeface="Arial"/>
                          <a:cs typeface="Arial"/>
                        </a:rPr>
                        <a:t> patients.</a:t>
                      </a:r>
                      <a:endParaRPr lang="en-US" dirty="0"/>
                    </a:p>
                  </a:txBody>
                  <a:tcPr/>
                </a:tc>
                <a:tc>
                  <a:txBody>
                    <a:bodyPr/>
                    <a:lstStyle/>
                    <a:p>
                      <a:pPr lvl="0">
                        <a:buNone/>
                      </a:pPr>
                      <a:r>
                        <a:rPr lang="en-US" sz="1400" b="0" i="0" u="none" strike="noStrike" noProof="0" dirty="0">
                          <a:latin typeface="Arial"/>
                          <a:cs typeface="Arial"/>
                        </a:rPr>
                        <a:t>Very few RCTs or large studies; low/medium-quality evidence. Some trials found no significant benefit over standard (e.g. live call) monitoring. Calls for more standardized, well-controlled research.</a:t>
                      </a:r>
                      <a:endParaRPr lang="en-US" dirty="0"/>
                    </a:p>
                  </a:txBody>
                  <a:tcPr/>
                </a:tc>
                <a:extLst>
                  <a:ext uri="{0D108BD9-81ED-4DB2-BD59-A6C34878D82A}">
                    <a16:rowId xmlns:a16="http://schemas.microsoft.com/office/drawing/2014/main" val="5330946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ACD11FC-EA93-F7CA-38AC-B0C683E8881B}"/>
              </a:ext>
            </a:extLst>
          </p:cNvPr>
          <p:cNvGraphicFramePr>
            <a:graphicFrameLocks noGrp="1"/>
          </p:cNvGraphicFramePr>
          <p:nvPr>
            <p:extLst>
              <p:ext uri="{D42A27DB-BD31-4B8C-83A1-F6EECF244321}">
                <p14:modId xmlns:p14="http://schemas.microsoft.com/office/powerpoint/2010/main" val="2611104028"/>
              </p:ext>
            </p:extLst>
          </p:nvPr>
        </p:nvGraphicFramePr>
        <p:xfrm>
          <a:off x="10390" y="20781"/>
          <a:ext cx="9135183" cy="3745677"/>
        </p:xfrm>
        <a:graphic>
          <a:graphicData uri="http://schemas.openxmlformats.org/drawingml/2006/table">
            <a:tbl>
              <a:tblPr firstRow="1" bandRow="1">
                <a:tableStyleId>{5C22544A-7EE6-4342-B048-85BDC9FD1C3A}</a:tableStyleId>
              </a:tblPr>
              <a:tblGrid>
                <a:gridCol w="2258121">
                  <a:extLst>
                    <a:ext uri="{9D8B030D-6E8A-4147-A177-3AD203B41FA5}">
                      <a16:colId xmlns:a16="http://schemas.microsoft.com/office/drawing/2014/main" val="2987238984"/>
                    </a:ext>
                  </a:extLst>
                </a:gridCol>
                <a:gridCol w="3832000">
                  <a:extLst>
                    <a:ext uri="{9D8B030D-6E8A-4147-A177-3AD203B41FA5}">
                      <a16:colId xmlns:a16="http://schemas.microsoft.com/office/drawing/2014/main" val="1446962241"/>
                    </a:ext>
                  </a:extLst>
                </a:gridCol>
                <a:gridCol w="3045062">
                  <a:extLst>
                    <a:ext uri="{9D8B030D-6E8A-4147-A177-3AD203B41FA5}">
                      <a16:colId xmlns:a16="http://schemas.microsoft.com/office/drawing/2014/main" val="4004226885"/>
                    </a:ext>
                  </a:extLst>
                </a:gridCol>
              </a:tblGrid>
              <a:tr h="432278">
                <a:tc>
                  <a:txBody>
                    <a:bodyPr/>
                    <a:lstStyle/>
                    <a:p>
                      <a:r>
                        <a:rPr lang="en-US" dirty="0"/>
                        <a:t>Source (Year)</a:t>
                      </a:r>
                    </a:p>
                  </a:txBody>
                  <a:tcPr/>
                </a:tc>
                <a:tc>
                  <a:txBody>
                    <a:bodyPr/>
                    <a:lstStyle/>
                    <a:p>
                      <a:pPr lvl="0" algn="l">
                        <a:lnSpc>
                          <a:spcPct val="100000"/>
                        </a:lnSpc>
                        <a:spcBef>
                          <a:spcPts val="0"/>
                        </a:spcBef>
                        <a:spcAft>
                          <a:spcPts val="0"/>
                        </a:spcAft>
                        <a:buNone/>
                      </a:pPr>
                      <a:r>
                        <a:rPr lang="en-US" sz="1400" b="1" i="0" u="none" strike="noStrike" noProof="0" dirty="0">
                          <a:solidFill>
                            <a:srgbClr val="FFFFFF"/>
                          </a:solidFill>
                          <a:latin typeface="Arial"/>
                          <a:cs typeface="Arial"/>
                        </a:rPr>
                        <a:t>Key Findings</a:t>
                      </a:r>
                    </a:p>
                  </a:txBody>
                  <a:tcPr/>
                </a:tc>
                <a:tc>
                  <a:txBody>
                    <a:bodyPr/>
                    <a:lstStyle/>
                    <a:p>
                      <a:pPr lvl="0" algn="l">
                        <a:lnSpc>
                          <a:spcPct val="100000"/>
                        </a:lnSpc>
                        <a:spcBef>
                          <a:spcPts val="0"/>
                        </a:spcBef>
                        <a:spcAft>
                          <a:spcPts val="0"/>
                        </a:spcAft>
                        <a:buNone/>
                      </a:pPr>
                      <a:r>
                        <a:rPr lang="en-US" sz="1400" b="1" i="0" u="none" strike="noStrike" noProof="0" dirty="0">
                          <a:solidFill>
                            <a:srgbClr val="FFFFFF"/>
                          </a:solidFill>
                          <a:latin typeface="Arial"/>
                          <a:cs typeface="Arial"/>
                        </a:rPr>
                        <a:t>Gap / Limitations</a:t>
                      </a:r>
                    </a:p>
                  </a:txBody>
                  <a:tcPr/>
                </a:tc>
                <a:extLst>
                  <a:ext uri="{0D108BD9-81ED-4DB2-BD59-A6C34878D82A}">
                    <a16:rowId xmlns:a16="http://schemas.microsoft.com/office/drawing/2014/main" val="2673569718"/>
                  </a:ext>
                </a:extLst>
              </a:tr>
              <a:tr h="1728439">
                <a:tc>
                  <a:txBody>
                    <a:bodyPr/>
                    <a:lstStyle/>
                    <a:p>
                      <a:pPr lvl="0">
                        <a:buNone/>
                      </a:pPr>
                      <a:r>
                        <a:rPr lang="en-US" sz="1400" b="0" i="0" u="none" strike="noStrike" noProof="0" dirty="0">
                          <a:latin typeface="Arial"/>
                          <a:cs typeface="Arial"/>
                        </a:rPr>
                        <a:t>Lee (2017) – Biometric Update</a:t>
                      </a:r>
                    </a:p>
                  </a:txBody>
                  <a:tcPr/>
                </a:tc>
                <a:tc>
                  <a:txBody>
                    <a:bodyPr/>
                    <a:lstStyle/>
                    <a:p>
                      <a:pPr lvl="0">
                        <a:buNone/>
                      </a:pPr>
                      <a:r>
                        <a:rPr lang="en-US" sz="1400" b="0" i="0" u="none" strike="noStrike" noProof="0" dirty="0">
                          <a:latin typeface="Arial"/>
                          <a:cs typeface="Arial"/>
                        </a:rPr>
                        <a:t>Report on NIH-funded trial: </a:t>
                      </a:r>
                      <a:r>
                        <a:rPr lang="en-US" sz="1400" b="0" i="0" u="none" strike="noStrike" noProof="0" dirty="0" err="1">
                          <a:latin typeface="Arial"/>
                          <a:cs typeface="Arial"/>
                        </a:rPr>
                        <a:t>AiCure</a:t>
                      </a:r>
                      <a:r>
                        <a:rPr lang="en-US" sz="1400" b="0" i="0" u="none" strike="noStrike" noProof="0" dirty="0">
                          <a:latin typeface="Arial"/>
                          <a:cs typeface="Arial"/>
                        </a:rPr>
                        <a:t> smartphone app (AI + video) achieved 100% adherence in stroke patients on anticoagulants, versus 50% in control (face-to-face). Demonstrates AI video monitoring can dramatically increase adherence in small trials. </a:t>
                      </a:r>
                      <a:endParaRPr lang="en-US" dirty="0"/>
                    </a:p>
                  </a:txBody>
                  <a:tcPr/>
                </a:tc>
                <a:tc>
                  <a:txBody>
                    <a:bodyPr/>
                    <a:lstStyle/>
                    <a:p>
                      <a:pPr lvl="0">
                        <a:buNone/>
                      </a:pPr>
                      <a:r>
                        <a:rPr lang="en-US" sz="1400" b="0" i="0" u="none" strike="noStrike" noProof="0" dirty="0">
                          <a:latin typeface="Arial"/>
                          <a:cs typeface="Arial"/>
                        </a:rPr>
                        <a:t>Small sample (28 patients) and short-term (12 weeks). Proprietary system; not easily generalizable. Focused on clinical trial environment. </a:t>
                      </a:r>
                      <a:endParaRPr lang="en-US" dirty="0"/>
                    </a:p>
                  </a:txBody>
                  <a:tcPr/>
                </a:tc>
                <a:extLst>
                  <a:ext uri="{0D108BD9-81ED-4DB2-BD59-A6C34878D82A}">
                    <a16:rowId xmlns:a16="http://schemas.microsoft.com/office/drawing/2014/main" val="2837367976"/>
                  </a:ext>
                </a:extLst>
              </a:tr>
              <a:tr h="432278">
                <a:tc>
                  <a:txBody>
                    <a:bodyPr/>
                    <a:lstStyle/>
                    <a:p>
                      <a:pPr lvl="0">
                        <a:buNone/>
                      </a:pPr>
                      <a:r>
                        <a:rPr lang="en-US" sz="1400" b="0" i="0" u="none" strike="noStrike" noProof="0" dirty="0">
                          <a:latin typeface="Arial"/>
                          <a:cs typeface="Arial"/>
                          <a:hlinkClick r:id="rId2"/>
                        </a:rPr>
                        <a:t>Pulice &amp; Coustasse (2024) – Pharmacy Times</a:t>
                      </a:r>
                      <a:endParaRPr lang="en-US" dirty="0">
                        <a:hlinkClick r:id="rId2"/>
                      </a:endParaRPr>
                    </a:p>
                  </a:txBody>
                  <a:tcPr/>
                </a:tc>
                <a:tc>
                  <a:txBody>
                    <a:bodyPr/>
                    <a:lstStyle/>
                    <a:p>
                      <a:pPr lvl="0">
                        <a:buNone/>
                      </a:pPr>
                      <a:r>
                        <a:rPr lang="en-US" sz="1400" b="0" i="0" u="none" strike="noStrike" noProof="0" dirty="0">
                          <a:latin typeface="Arial"/>
                          <a:cs typeface="Arial"/>
                        </a:rPr>
                        <a:t>Industry review: ~50% of U.S. patients non-adherent; 125k deaths and $100B costs per year. Notes that AI/ML models can achieve ~70–80% accuracy in predicting nonadherence for conditions like diabetes and hypertension, and that AI-driven patient-engagement tools are being explored. </a:t>
                      </a:r>
                      <a:endParaRPr lang="en-US" dirty="0"/>
                    </a:p>
                  </a:txBody>
                  <a:tcPr/>
                </a:tc>
                <a:tc>
                  <a:txBody>
                    <a:bodyPr/>
                    <a:lstStyle/>
                    <a:p>
                      <a:pPr lvl="0">
                        <a:buNone/>
                      </a:pPr>
                      <a:r>
                        <a:rPr lang="en-US" sz="1400" b="0" i="0" u="none" strike="noStrike" noProof="0" dirty="0">
                          <a:latin typeface="Arial"/>
                          <a:cs typeface="Arial"/>
                        </a:rPr>
                        <a:t>Article (trade publication) with broad overview. Highlights potential of AI but lacks original data. Serves to confirm the scale of the problem and interest in AI solutions. </a:t>
                      </a:r>
                      <a:endParaRPr lang="en-US" dirty="0"/>
                    </a:p>
                  </a:txBody>
                  <a:tcPr/>
                </a:tc>
                <a:extLst>
                  <a:ext uri="{0D108BD9-81ED-4DB2-BD59-A6C34878D82A}">
                    <a16:rowId xmlns:a16="http://schemas.microsoft.com/office/drawing/2014/main" val="1047207343"/>
                  </a:ext>
                </a:extLst>
              </a:tr>
            </a:tbl>
          </a:graphicData>
        </a:graphic>
      </p:graphicFrame>
      <p:sp>
        <p:nvSpPr>
          <p:cNvPr id="5" name="TextBox 4">
            <a:extLst>
              <a:ext uri="{FF2B5EF4-FFF2-40B4-BE49-F238E27FC236}">
                <a16:creationId xmlns:a16="http://schemas.microsoft.com/office/drawing/2014/main" id="{991489CD-68C1-E5E8-D107-709C75560845}"/>
              </a:ext>
            </a:extLst>
          </p:cNvPr>
          <p:cNvSpPr txBox="1"/>
          <p:nvPr/>
        </p:nvSpPr>
        <p:spPr>
          <a:xfrm>
            <a:off x="14446" y="4204515"/>
            <a:ext cx="9004101"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t>Existing studies show: AI/ML approaches can detect high-risk patients and modestly improve adherence, but evidence is limited (few trials, mostly promise shown in demos). Likewise, traditional reminder apps (not AI-based) are widely used but may not change behaviors long-term. Our work targets the unmet gap: integrating predictive AI with human-centered coordination (patient, caregiver, nurse) in a holistic platform. </a:t>
            </a:r>
            <a:endParaRPr lang="en-US"/>
          </a:p>
        </p:txBody>
      </p:sp>
    </p:spTree>
    <p:extLst>
      <p:ext uri="{BB962C8B-B14F-4D97-AF65-F5344CB8AC3E}">
        <p14:creationId xmlns:p14="http://schemas.microsoft.com/office/powerpoint/2010/main" val="931241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cxnSp>
        <p:nvCxnSpPr>
          <p:cNvPr id="2" name="Connector 1"/>
          <p:cNvCxnSpPr/>
          <p:nvPr/>
        </p:nvCxnSpPr>
        <p:spPr>
          <a:xfrm>
            <a:off x="777240" y="4005072"/>
            <a:ext cx="548640" cy="0"/>
          </a:xfrm>
          <a:prstGeom prst="line">
            <a:avLst/>
          </a:prstGeom>
          <a:ln w="33020">
            <a:solidFill>
              <a:srgbClr val="CF8F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4224528"/>
            <a:ext cx="7498079" cy="658368"/>
          </a:xfrm>
          <a:prstGeom prst="rect">
            <a:avLst/>
          </a:prstGeom>
          <a:noFill/>
        </p:spPr>
        <p:txBody>
          <a:bodyPr wrap="none" anchor="ctr">
            <a:spAutoFit/>
          </a:bodyPr>
          <a:lstStyle/>
          <a:p>
            <a:pPr algn="l"/>
            <a:r>
              <a:rPr sz="2200" b="1">
                <a:solidFill>
                  <a:srgbClr val="1D3C68"/>
                </a:solidFill>
                <a:latin typeface="Aptos"/>
              </a:rPr>
              <a:t>GAP ANALYSIS</a:t>
            </a:r>
          </a:p>
        </p:txBody>
      </p:sp>
      <p:sp>
        <p:nvSpPr>
          <p:cNvPr id="4" name="TextBox 3"/>
          <p:cNvSpPr txBox="1"/>
          <p:nvPr/>
        </p:nvSpPr>
        <p:spPr>
          <a:xfrm>
            <a:off x="7818120" y="4251960"/>
            <a:ext cx="502920" cy="365760"/>
          </a:xfrm>
          <a:prstGeom prst="rect">
            <a:avLst/>
          </a:prstGeom>
          <a:noFill/>
        </p:spPr>
        <p:txBody>
          <a:bodyPr wrap="none" anchor="ctr">
            <a:spAutoFit/>
          </a:bodyPr>
          <a:lstStyle/>
          <a:p>
            <a:pPr algn="r"/>
            <a:r>
              <a:rPr sz="1000" b="1">
                <a:solidFill>
                  <a:srgbClr val="5353AD"/>
                </a:solidFill>
                <a:latin typeface="Aptos"/>
              </a:rPr>
              <a:t>03</a:t>
            </a:r>
          </a:p>
        </p:txBody>
      </p:sp>
      <p:sp>
        <p:nvSpPr>
          <p:cNvPr id="5" name="TextBox 4"/>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6" name="TextBox 5"/>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2" name="TextBox 1"/>
          <p:cNvSpPr txBox="1"/>
          <p:nvPr/>
        </p:nvSpPr>
        <p:spPr>
          <a:xfrm>
            <a:off x="502920" y="246888"/>
            <a:ext cx="7132320" cy="411480"/>
          </a:xfrm>
          <a:prstGeom prst="rect">
            <a:avLst/>
          </a:prstGeom>
          <a:noFill/>
        </p:spPr>
        <p:txBody>
          <a:bodyPr wrap="none" anchor="ctr">
            <a:spAutoFit/>
          </a:bodyPr>
          <a:lstStyle/>
          <a:p>
            <a:pPr algn="l"/>
            <a:r>
              <a:rPr sz="1900" b="1">
                <a:solidFill>
                  <a:srgbClr val="1D3C68"/>
                </a:solidFill>
                <a:latin typeface="Aptos"/>
              </a:rPr>
              <a:t>Gap Analysis</a:t>
            </a:r>
          </a:p>
        </p:txBody>
      </p:sp>
      <p:cxnSp>
        <p:nvCxnSpPr>
          <p:cNvPr id="3" name="Connector 2"/>
          <p:cNvCxnSpPr/>
          <p:nvPr/>
        </p:nvCxnSpPr>
        <p:spPr>
          <a:xfrm>
            <a:off x="502920" y="749808"/>
            <a:ext cx="612648" cy="0"/>
          </a:xfrm>
          <a:prstGeom prst="line">
            <a:avLst/>
          </a:prstGeom>
          <a:ln w="27940">
            <a:solidFill>
              <a:srgbClr val="CF8F2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75320" y="246888"/>
            <a:ext cx="411480" cy="320040"/>
          </a:xfrm>
          <a:prstGeom prst="rect">
            <a:avLst/>
          </a:prstGeom>
          <a:noFill/>
        </p:spPr>
        <p:txBody>
          <a:bodyPr wrap="none" anchor="ctr">
            <a:spAutoFit/>
          </a:bodyPr>
          <a:lstStyle/>
          <a:p>
            <a:pPr algn="r"/>
            <a:r>
              <a:rPr sz="1000" b="1">
                <a:solidFill>
                  <a:srgbClr val="5353AD"/>
                </a:solidFill>
                <a:latin typeface="Aptos"/>
              </a:rPr>
              <a:t>03</a:t>
            </a:r>
          </a:p>
        </p:txBody>
      </p:sp>
      <p:sp>
        <p:nvSpPr>
          <p:cNvPr id="5" name="Rounded Rectangle 4"/>
          <p:cNvSpPr/>
          <p:nvPr/>
        </p:nvSpPr>
        <p:spPr>
          <a:xfrm>
            <a:off x="502920" y="1325880"/>
            <a:ext cx="3886200" cy="4069080"/>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6158" y="1325880"/>
            <a:ext cx="3927762" cy="4069080"/>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8" name="TextBox 7"/>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09</a:t>
            </a:r>
          </a:p>
        </p:txBody>
      </p:sp>
      <p:sp>
        <p:nvSpPr>
          <p:cNvPr id="10" name="TextBox 9">
            <a:extLst>
              <a:ext uri="{FF2B5EF4-FFF2-40B4-BE49-F238E27FC236}">
                <a16:creationId xmlns:a16="http://schemas.microsoft.com/office/drawing/2014/main" id="{D4462EDE-530D-31E2-54B9-82C7436D27CB}"/>
              </a:ext>
            </a:extLst>
          </p:cNvPr>
          <p:cNvSpPr txBox="1"/>
          <p:nvPr/>
        </p:nvSpPr>
        <p:spPr>
          <a:xfrm>
            <a:off x="418170" y="850280"/>
            <a:ext cx="823796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Compared to current solutions, </a:t>
            </a:r>
            <a:r>
              <a:rPr lang="en-US" b="1" dirty="0" err="1"/>
              <a:t>CareLink</a:t>
            </a:r>
            <a:r>
              <a:rPr lang="en-US" b="1" dirty="0"/>
              <a:t> </a:t>
            </a:r>
            <a:r>
              <a:rPr lang="en-US" dirty="0"/>
              <a:t>fills several gaps..</a:t>
            </a:r>
          </a:p>
        </p:txBody>
      </p:sp>
      <p:sp>
        <p:nvSpPr>
          <p:cNvPr id="11" name="TextBox 10">
            <a:extLst>
              <a:ext uri="{FF2B5EF4-FFF2-40B4-BE49-F238E27FC236}">
                <a16:creationId xmlns:a16="http://schemas.microsoft.com/office/drawing/2014/main" id="{BD630DC9-AA46-FE12-B7B7-FEFBC4919C1D}"/>
              </a:ext>
            </a:extLst>
          </p:cNvPr>
          <p:cNvSpPr txBox="1"/>
          <p:nvPr/>
        </p:nvSpPr>
        <p:spPr>
          <a:xfrm>
            <a:off x="808463" y="1477536"/>
            <a:ext cx="3289863"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t>Beyond reminders</a:t>
            </a:r>
            <a:r>
              <a:rPr lang="en-US" dirty="0"/>
              <a:t>:</a:t>
            </a:r>
            <a:endParaRPr lang="en-US"/>
          </a:p>
          <a:p>
            <a:pPr algn="just"/>
            <a:endParaRPr lang="en-US" dirty="0"/>
          </a:p>
          <a:p>
            <a:pPr algn="just"/>
            <a:r>
              <a:rPr lang="en-US" dirty="0"/>
              <a:t>Most apps focus on reminding patients when to take their medication. </a:t>
            </a:r>
            <a:r>
              <a:rPr lang="en-US" b="1" dirty="0" err="1"/>
              <a:t>CareLink</a:t>
            </a:r>
            <a:r>
              <a:rPr lang="en-US" b="1" dirty="0"/>
              <a:t> uses AI to analyze adherence patterns over time</a:t>
            </a:r>
            <a:r>
              <a:rPr lang="en-US" dirty="0"/>
              <a:t>, distinguish occasional missed doses from developing problems, and select an appropriate response such as a reminder or caregiver check-in.</a:t>
            </a:r>
          </a:p>
          <a:p>
            <a:pPr marL="285750" indent="-285750" algn="just">
              <a:buChar char="•"/>
            </a:pPr>
            <a:endParaRPr lang="en-US" dirty="0"/>
          </a:p>
          <a:p>
            <a:pPr algn="just"/>
            <a:endParaRPr lang="en-US" dirty="0"/>
          </a:p>
          <a:p>
            <a:pPr algn="just"/>
            <a:endParaRPr lang="en-US" dirty="0"/>
          </a:p>
        </p:txBody>
      </p:sp>
      <p:sp>
        <p:nvSpPr>
          <p:cNvPr id="12" name="TextBox 11">
            <a:extLst>
              <a:ext uri="{FF2B5EF4-FFF2-40B4-BE49-F238E27FC236}">
                <a16:creationId xmlns:a16="http://schemas.microsoft.com/office/drawing/2014/main" id="{9B2115E3-3EA8-E75B-DFCD-FD7F1FB2E204}"/>
              </a:ext>
            </a:extLst>
          </p:cNvPr>
          <p:cNvSpPr txBox="1"/>
          <p:nvPr/>
        </p:nvSpPr>
        <p:spPr>
          <a:xfrm>
            <a:off x="4934414" y="1519353"/>
            <a:ext cx="334536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Multi-stakeholder coordination:</a:t>
            </a:r>
            <a:endParaRPr lang="en-US" dirty="0"/>
          </a:p>
          <a:p>
            <a:endParaRPr lang="en-US" b="1" dirty="0"/>
          </a:p>
          <a:p>
            <a:r>
              <a:rPr lang="en-US" dirty="0"/>
              <a:t>Existing apps focus only on the patient. </a:t>
            </a:r>
            <a:r>
              <a:rPr lang="en-US" dirty="0" err="1"/>
              <a:t>CareLink</a:t>
            </a:r>
            <a:r>
              <a:rPr lang="en-US" dirty="0"/>
              <a:t> explicitly involves caregivers and care coordinators. When risk is detected, the system alerts the appropriate person (family member, nurse) with context. No popular app currently closes this loop in real time.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5C910DAE-F379-26F6-A70A-3A3A7C771E6C}"/>
              </a:ext>
            </a:extLst>
          </p:cNvPr>
          <p:cNvSpPr/>
          <p:nvPr/>
        </p:nvSpPr>
        <p:spPr>
          <a:xfrm>
            <a:off x="4915593" y="179416"/>
            <a:ext cx="3886200" cy="2676698"/>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4">
            <a:extLst>
              <a:ext uri="{FF2B5EF4-FFF2-40B4-BE49-F238E27FC236}">
                <a16:creationId xmlns:a16="http://schemas.microsoft.com/office/drawing/2014/main" id="{71919E57-6AAE-4DF7-E418-75A7E61F02AD}"/>
              </a:ext>
            </a:extLst>
          </p:cNvPr>
          <p:cNvSpPr/>
          <p:nvPr/>
        </p:nvSpPr>
        <p:spPr>
          <a:xfrm>
            <a:off x="468283" y="179415"/>
            <a:ext cx="3886200" cy="2666307"/>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97430304-CDD4-0F9C-DA8C-53161B8AC2B6}"/>
              </a:ext>
            </a:extLst>
          </p:cNvPr>
          <p:cNvSpPr txBox="1"/>
          <p:nvPr/>
        </p:nvSpPr>
        <p:spPr>
          <a:xfrm>
            <a:off x="752707" y="404231"/>
            <a:ext cx="3345365"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Explainability &amp; safety:</a:t>
            </a:r>
          </a:p>
          <a:p>
            <a:endParaRPr lang="en-US" b="1" dirty="0"/>
          </a:p>
          <a:p>
            <a:r>
              <a:rPr lang="en-US" dirty="0"/>
              <a:t>Few systems provide human-understandable reasons for alerts. </a:t>
            </a:r>
            <a:r>
              <a:rPr lang="en-US" dirty="0" err="1"/>
              <a:t>CareLink</a:t>
            </a:r>
            <a:r>
              <a:rPr lang="en-US" dirty="0"/>
              <a:t> will explain its decisions (e.g. “Missed 3 doses vs. usual 1, risk high”) and enforce safety rules (e.g. never auto-change a prescription). This is aligned with best practices (responsible AI with clinician oversight)</a:t>
            </a:r>
          </a:p>
        </p:txBody>
      </p:sp>
      <p:sp>
        <p:nvSpPr>
          <p:cNvPr id="10" name="TextBox 9">
            <a:extLst>
              <a:ext uri="{FF2B5EF4-FFF2-40B4-BE49-F238E27FC236}">
                <a16:creationId xmlns:a16="http://schemas.microsoft.com/office/drawing/2014/main" id="{DE75DFEE-7501-54D2-4B8F-22002DB0C2CA}"/>
              </a:ext>
            </a:extLst>
          </p:cNvPr>
          <p:cNvSpPr txBox="1"/>
          <p:nvPr/>
        </p:nvSpPr>
        <p:spPr>
          <a:xfrm>
            <a:off x="5227134" y="404231"/>
            <a:ext cx="3331426"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Local context &amp; language:</a:t>
            </a:r>
          </a:p>
          <a:p>
            <a:endParaRPr lang="en-US" b="1" dirty="0"/>
          </a:p>
          <a:p>
            <a:r>
              <a:rPr lang="en-US" dirty="0" err="1"/>
              <a:t>CareLink</a:t>
            </a:r>
            <a:r>
              <a:rPr lang="en-US" dirty="0"/>
              <a:t> will support English and Urdu, recognizing that many existing tools ignore local languages or cultural factors. This ensures greater accessibility in our target region</a:t>
            </a:r>
          </a:p>
        </p:txBody>
      </p:sp>
      <p:sp>
        <p:nvSpPr>
          <p:cNvPr id="11" name="Rounded Rectangle 4">
            <a:extLst>
              <a:ext uri="{FF2B5EF4-FFF2-40B4-BE49-F238E27FC236}">
                <a16:creationId xmlns:a16="http://schemas.microsoft.com/office/drawing/2014/main" id="{F0C6006C-3FB9-02EB-3B73-6C89A2A25D5C}"/>
              </a:ext>
            </a:extLst>
          </p:cNvPr>
          <p:cNvSpPr/>
          <p:nvPr/>
        </p:nvSpPr>
        <p:spPr>
          <a:xfrm>
            <a:off x="468283" y="3120042"/>
            <a:ext cx="8333508" cy="1512917"/>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F271FBED-431E-0BE3-7ACD-8BCB0FCD7711}"/>
              </a:ext>
            </a:extLst>
          </p:cNvPr>
          <p:cNvSpPr txBox="1"/>
          <p:nvPr/>
        </p:nvSpPr>
        <p:spPr>
          <a:xfrm>
            <a:off x="700499" y="3430520"/>
            <a:ext cx="772221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Integration of data:</a:t>
            </a:r>
          </a:p>
          <a:p>
            <a:endParaRPr lang="en-US" b="1" dirty="0"/>
          </a:p>
          <a:p>
            <a:r>
              <a:rPr lang="en-US" dirty="0"/>
              <a:t>We plan optional use of wearable data (heart rate) and prescription OCR, which few apps do. But this remains optional given hardware/API limits. </a:t>
            </a:r>
          </a:p>
        </p:txBody>
      </p:sp>
      <p:sp>
        <p:nvSpPr>
          <p:cNvPr id="13" name="TextBox 12">
            <a:extLst>
              <a:ext uri="{FF2B5EF4-FFF2-40B4-BE49-F238E27FC236}">
                <a16:creationId xmlns:a16="http://schemas.microsoft.com/office/drawing/2014/main" id="{76896B8D-A3AD-2B51-01BC-607995928B9B}"/>
              </a:ext>
            </a:extLst>
          </p:cNvPr>
          <p:cNvSpPr txBox="1"/>
          <p:nvPr/>
        </p:nvSpPr>
        <p:spPr>
          <a:xfrm>
            <a:off x="704554" y="4822901"/>
            <a:ext cx="784336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In summary, the gap is that no current system offers context-aware, predictive adherence support with integrated caregiver coordination. </a:t>
            </a:r>
            <a:r>
              <a:rPr lang="en-US" dirty="0" err="1"/>
              <a:t>CareLink’s</a:t>
            </a:r>
            <a:r>
              <a:rPr lang="en-US" dirty="0"/>
              <a:t> agent-based design directly addresses that gap.</a:t>
            </a:r>
          </a:p>
        </p:txBody>
      </p:sp>
    </p:spTree>
    <p:extLst>
      <p:ext uri="{BB962C8B-B14F-4D97-AF65-F5344CB8AC3E}">
        <p14:creationId xmlns:p14="http://schemas.microsoft.com/office/powerpoint/2010/main" val="2429532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cxnSp>
        <p:nvCxnSpPr>
          <p:cNvPr id="2" name="Connector 1"/>
          <p:cNvCxnSpPr/>
          <p:nvPr/>
        </p:nvCxnSpPr>
        <p:spPr>
          <a:xfrm>
            <a:off x="777240" y="4005072"/>
            <a:ext cx="548640" cy="0"/>
          </a:xfrm>
          <a:prstGeom prst="line">
            <a:avLst/>
          </a:prstGeom>
          <a:ln w="33020">
            <a:solidFill>
              <a:srgbClr val="CF8F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4224528"/>
            <a:ext cx="7498079" cy="658368"/>
          </a:xfrm>
          <a:prstGeom prst="rect">
            <a:avLst/>
          </a:prstGeom>
          <a:noFill/>
        </p:spPr>
        <p:txBody>
          <a:bodyPr wrap="none" anchor="ctr">
            <a:spAutoFit/>
          </a:bodyPr>
          <a:lstStyle/>
          <a:p>
            <a:pPr algn="l"/>
            <a:r>
              <a:rPr sz="2200" b="1">
                <a:solidFill>
                  <a:srgbClr val="1D3C68"/>
                </a:solidFill>
                <a:latin typeface="Aptos"/>
              </a:rPr>
              <a:t>PROBLEM STATEMENT</a:t>
            </a:r>
          </a:p>
        </p:txBody>
      </p:sp>
      <p:sp>
        <p:nvSpPr>
          <p:cNvPr id="4" name="TextBox 3"/>
          <p:cNvSpPr txBox="1"/>
          <p:nvPr/>
        </p:nvSpPr>
        <p:spPr>
          <a:xfrm>
            <a:off x="7818120" y="4251960"/>
            <a:ext cx="502920" cy="365760"/>
          </a:xfrm>
          <a:prstGeom prst="rect">
            <a:avLst/>
          </a:prstGeom>
          <a:noFill/>
        </p:spPr>
        <p:txBody>
          <a:bodyPr wrap="none" anchor="ctr">
            <a:spAutoFit/>
          </a:bodyPr>
          <a:lstStyle/>
          <a:p>
            <a:pPr algn="r"/>
            <a:r>
              <a:rPr sz="1000" b="1">
                <a:solidFill>
                  <a:srgbClr val="5353AD"/>
                </a:solidFill>
                <a:latin typeface="Aptos"/>
              </a:rPr>
              <a:t>04</a:t>
            </a:r>
          </a:p>
        </p:txBody>
      </p:sp>
      <p:sp>
        <p:nvSpPr>
          <p:cNvPr id="5" name="TextBox 4"/>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6" name="TextBox 5"/>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2" name="TextBox 1"/>
          <p:cNvSpPr txBox="1"/>
          <p:nvPr/>
        </p:nvSpPr>
        <p:spPr>
          <a:xfrm>
            <a:off x="502920" y="246888"/>
            <a:ext cx="7132320" cy="411480"/>
          </a:xfrm>
          <a:prstGeom prst="rect">
            <a:avLst/>
          </a:prstGeom>
          <a:noFill/>
        </p:spPr>
        <p:txBody>
          <a:bodyPr wrap="none" anchor="ctr">
            <a:spAutoFit/>
          </a:bodyPr>
          <a:lstStyle/>
          <a:p>
            <a:pPr algn="l"/>
            <a:r>
              <a:rPr sz="1900" b="1">
                <a:solidFill>
                  <a:srgbClr val="1D3C68"/>
                </a:solidFill>
                <a:latin typeface="Aptos"/>
              </a:rPr>
              <a:t>Problem Statement</a:t>
            </a:r>
          </a:p>
        </p:txBody>
      </p:sp>
      <p:cxnSp>
        <p:nvCxnSpPr>
          <p:cNvPr id="3" name="Connector 2"/>
          <p:cNvCxnSpPr/>
          <p:nvPr/>
        </p:nvCxnSpPr>
        <p:spPr>
          <a:xfrm>
            <a:off x="502920" y="749808"/>
            <a:ext cx="612648" cy="0"/>
          </a:xfrm>
          <a:prstGeom prst="line">
            <a:avLst/>
          </a:prstGeom>
          <a:ln w="27940">
            <a:solidFill>
              <a:srgbClr val="CF8F2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75320" y="246888"/>
            <a:ext cx="411480" cy="320040"/>
          </a:xfrm>
          <a:prstGeom prst="rect">
            <a:avLst/>
          </a:prstGeom>
          <a:noFill/>
        </p:spPr>
        <p:txBody>
          <a:bodyPr wrap="none" anchor="ctr">
            <a:spAutoFit/>
          </a:bodyPr>
          <a:lstStyle/>
          <a:p>
            <a:pPr algn="r"/>
            <a:r>
              <a:rPr sz="1000" b="1">
                <a:solidFill>
                  <a:srgbClr val="5353AD"/>
                </a:solidFill>
                <a:latin typeface="Aptos"/>
              </a:rPr>
              <a:t>04</a:t>
            </a:r>
          </a:p>
        </p:txBody>
      </p:sp>
      <p:sp>
        <p:nvSpPr>
          <p:cNvPr id="5" name="Rounded Rectangle 4"/>
          <p:cNvSpPr/>
          <p:nvPr/>
        </p:nvSpPr>
        <p:spPr>
          <a:xfrm>
            <a:off x="502920" y="1712421"/>
            <a:ext cx="8001000" cy="1716581"/>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7" name="TextBox 6"/>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11</a:t>
            </a:r>
          </a:p>
        </p:txBody>
      </p:sp>
      <p:sp>
        <p:nvSpPr>
          <p:cNvPr id="8" name="TextBox 7">
            <a:extLst>
              <a:ext uri="{FF2B5EF4-FFF2-40B4-BE49-F238E27FC236}">
                <a16:creationId xmlns:a16="http://schemas.microsoft.com/office/drawing/2014/main" id="{46ABE089-2C6D-808A-A1AB-F38B969E668D}"/>
              </a:ext>
            </a:extLst>
          </p:cNvPr>
          <p:cNvSpPr txBox="1"/>
          <p:nvPr/>
        </p:nvSpPr>
        <p:spPr>
          <a:xfrm>
            <a:off x="404231" y="919975"/>
            <a:ext cx="801493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Poor medication adherence in chronic care is a complex multi-factor problem. A reactive reminder app alone cannot ensure adherence. Our problem statement: </a:t>
            </a:r>
          </a:p>
        </p:txBody>
      </p:sp>
      <p:sp>
        <p:nvSpPr>
          <p:cNvPr id="9" name="TextBox 8">
            <a:extLst>
              <a:ext uri="{FF2B5EF4-FFF2-40B4-BE49-F238E27FC236}">
                <a16:creationId xmlns:a16="http://schemas.microsoft.com/office/drawing/2014/main" id="{760F39A6-24FB-68B9-09E0-097C9F2B817D}"/>
              </a:ext>
            </a:extLst>
          </p:cNvPr>
          <p:cNvSpPr txBox="1"/>
          <p:nvPr/>
        </p:nvSpPr>
        <p:spPr>
          <a:xfrm>
            <a:off x="669073" y="2189187"/>
            <a:ext cx="773235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t>How can we build an intelligent system that continuously analyzes a patient’s medication behavior, predicts adherence risks, and automatically coordinates appropriate interventions with caregivers or healthcare staff, while maintaining data privacy and explainability?</a:t>
            </a:r>
            <a:endParaRPr lang="en-US"/>
          </a:p>
        </p:txBody>
      </p:sp>
      <p:sp>
        <p:nvSpPr>
          <p:cNvPr id="10" name="TextBox 9">
            <a:extLst>
              <a:ext uri="{FF2B5EF4-FFF2-40B4-BE49-F238E27FC236}">
                <a16:creationId xmlns:a16="http://schemas.microsoft.com/office/drawing/2014/main" id="{FD95A7C1-2B12-1368-1741-692E9688D71E}"/>
              </a:ext>
            </a:extLst>
          </p:cNvPr>
          <p:cNvSpPr txBox="1"/>
          <p:nvPr/>
        </p:nvSpPr>
        <p:spPr>
          <a:xfrm>
            <a:off x="502311" y="3721719"/>
            <a:ext cx="7833731"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err="1"/>
              <a:t>CareLink</a:t>
            </a:r>
            <a:r>
              <a:rPr lang="en-US" dirty="0"/>
              <a:t> addresses this by offering an AI-augmented care coordination workflow: it observes medication events, assesses risk, and decides a proportionate action (reminder, encouragement, alert to caregiver, etc.) instead of simply emitting fixed reminders. We target real-world constraints: limited patient tech literacy, language diversity, and the need for human oversight. </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cxnSp>
        <p:nvCxnSpPr>
          <p:cNvPr id="2" name="Connector 1"/>
          <p:cNvCxnSpPr/>
          <p:nvPr/>
        </p:nvCxnSpPr>
        <p:spPr>
          <a:xfrm>
            <a:off x="777240" y="4005072"/>
            <a:ext cx="548640" cy="0"/>
          </a:xfrm>
          <a:prstGeom prst="line">
            <a:avLst/>
          </a:prstGeom>
          <a:ln w="33020">
            <a:solidFill>
              <a:srgbClr val="CF8F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4224528"/>
            <a:ext cx="7498079" cy="658368"/>
          </a:xfrm>
          <a:prstGeom prst="rect">
            <a:avLst/>
          </a:prstGeom>
          <a:noFill/>
        </p:spPr>
        <p:txBody>
          <a:bodyPr wrap="none" anchor="ctr">
            <a:spAutoFit/>
          </a:bodyPr>
          <a:lstStyle/>
          <a:p>
            <a:pPr algn="l"/>
            <a:r>
              <a:rPr sz="2200" b="1">
                <a:solidFill>
                  <a:srgbClr val="1D3C68"/>
                </a:solidFill>
                <a:latin typeface="Aptos"/>
              </a:rPr>
              <a:t>PROPOSED SOLUTION AND METHODOLOGY</a:t>
            </a:r>
          </a:p>
        </p:txBody>
      </p:sp>
      <p:sp>
        <p:nvSpPr>
          <p:cNvPr id="4" name="TextBox 3"/>
          <p:cNvSpPr txBox="1"/>
          <p:nvPr/>
        </p:nvSpPr>
        <p:spPr>
          <a:xfrm>
            <a:off x="7818120" y="4251960"/>
            <a:ext cx="502920" cy="365760"/>
          </a:xfrm>
          <a:prstGeom prst="rect">
            <a:avLst/>
          </a:prstGeom>
          <a:noFill/>
        </p:spPr>
        <p:txBody>
          <a:bodyPr wrap="none" anchor="ctr">
            <a:spAutoFit/>
          </a:bodyPr>
          <a:lstStyle/>
          <a:p>
            <a:pPr algn="r"/>
            <a:r>
              <a:rPr sz="1000" b="1">
                <a:solidFill>
                  <a:srgbClr val="5353AD"/>
                </a:solidFill>
                <a:latin typeface="Aptos"/>
              </a:rPr>
              <a:t>05</a:t>
            </a:r>
          </a:p>
        </p:txBody>
      </p:sp>
      <p:sp>
        <p:nvSpPr>
          <p:cNvPr id="5" name="TextBox 4"/>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6" name="TextBox 5"/>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2" name="TextBox 1"/>
          <p:cNvSpPr txBox="1"/>
          <p:nvPr/>
        </p:nvSpPr>
        <p:spPr>
          <a:xfrm>
            <a:off x="502920" y="246888"/>
            <a:ext cx="7132320" cy="411480"/>
          </a:xfrm>
          <a:prstGeom prst="rect">
            <a:avLst/>
          </a:prstGeom>
          <a:noFill/>
        </p:spPr>
        <p:txBody>
          <a:bodyPr wrap="none" anchor="ctr">
            <a:spAutoFit/>
          </a:bodyPr>
          <a:lstStyle/>
          <a:p>
            <a:pPr algn="l"/>
            <a:r>
              <a:rPr sz="1900" b="1">
                <a:solidFill>
                  <a:srgbClr val="1D3C68"/>
                </a:solidFill>
                <a:latin typeface="Aptos"/>
              </a:rPr>
              <a:t>Proposed Solution and Methodology</a:t>
            </a:r>
          </a:p>
        </p:txBody>
      </p:sp>
      <p:cxnSp>
        <p:nvCxnSpPr>
          <p:cNvPr id="3" name="Connector 2"/>
          <p:cNvCxnSpPr/>
          <p:nvPr/>
        </p:nvCxnSpPr>
        <p:spPr>
          <a:xfrm>
            <a:off x="502920" y="749808"/>
            <a:ext cx="612648" cy="0"/>
          </a:xfrm>
          <a:prstGeom prst="line">
            <a:avLst/>
          </a:prstGeom>
          <a:ln w="27940">
            <a:solidFill>
              <a:srgbClr val="CF8F2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75320" y="246888"/>
            <a:ext cx="411480" cy="320040"/>
          </a:xfrm>
          <a:prstGeom prst="rect">
            <a:avLst/>
          </a:prstGeom>
          <a:noFill/>
        </p:spPr>
        <p:txBody>
          <a:bodyPr wrap="none" anchor="ctr">
            <a:spAutoFit/>
          </a:bodyPr>
          <a:lstStyle/>
          <a:p>
            <a:pPr algn="r"/>
            <a:r>
              <a:rPr sz="1000" b="1">
                <a:solidFill>
                  <a:srgbClr val="5353AD"/>
                </a:solidFill>
                <a:latin typeface="Aptos"/>
              </a:rPr>
              <a:t>05</a:t>
            </a:r>
          </a:p>
        </p:txBody>
      </p:sp>
      <p:sp>
        <p:nvSpPr>
          <p:cNvPr id="5" name="Rounded Rectangle 4"/>
          <p:cNvSpPr/>
          <p:nvPr/>
        </p:nvSpPr>
        <p:spPr>
          <a:xfrm>
            <a:off x="191193" y="1099360"/>
            <a:ext cx="8749145" cy="4719548"/>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7" name="TextBox 6"/>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13</a:t>
            </a:r>
          </a:p>
        </p:txBody>
      </p:sp>
      <p:sp>
        <p:nvSpPr>
          <p:cNvPr id="8" name="TextBox 7">
            <a:extLst>
              <a:ext uri="{FF2B5EF4-FFF2-40B4-BE49-F238E27FC236}">
                <a16:creationId xmlns:a16="http://schemas.microsoft.com/office/drawing/2014/main" id="{91CAF05F-A048-C800-9AED-2F3EEC091615}"/>
              </a:ext>
            </a:extLst>
          </p:cNvPr>
          <p:cNvSpPr txBox="1"/>
          <p:nvPr/>
        </p:nvSpPr>
        <p:spPr>
          <a:xfrm>
            <a:off x="501804" y="805676"/>
            <a:ext cx="813329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CareLink</a:t>
            </a:r>
            <a:r>
              <a:rPr lang="en-US" dirty="0"/>
              <a:t> will be a web-based care coordination platform with the following components: </a:t>
            </a:r>
          </a:p>
        </p:txBody>
      </p:sp>
      <p:sp>
        <p:nvSpPr>
          <p:cNvPr id="9" name="TextBox 8">
            <a:extLst>
              <a:ext uri="{FF2B5EF4-FFF2-40B4-BE49-F238E27FC236}">
                <a16:creationId xmlns:a16="http://schemas.microsoft.com/office/drawing/2014/main" id="{F61B1C68-C892-215F-76A3-7DDCEB80C78B}"/>
              </a:ext>
            </a:extLst>
          </p:cNvPr>
          <p:cNvSpPr txBox="1"/>
          <p:nvPr/>
        </p:nvSpPr>
        <p:spPr>
          <a:xfrm>
            <a:off x="797818" y="1271746"/>
            <a:ext cx="7342571" cy="47205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Patient &amp; Medication Database: </a:t>
            </a:r>
            <a:r>
              <a:rPr lang="en-US" dirty="0"/>
              <a:t>Secure profiles store personal info, prescription details (drug, dose, schedule) and self-reported or synced intake events. A prescription-OCR module may be used to assist data entry. </a:t>
            </a:r>
            <a:endParaRPr lang="en-US"/>
          </a:p>
          <a:p>
            <a:endParaRPr lang="en-US" dirty="0"/>
          </a:p>
          <a:p>
            <a:r>
              <a:rPr lang="en-US" b="1" dirty="0"/>
              <a:t>Medication Agent: </a:t>
            </a:r>
            <a:r>
              <a:rPr lang="en-US" dirty="0"/>
              <a:t>Creates and updates medication schedules, handles initial data ingestion (e.g., when a prescription is logged). </a:t>
            </a:r>
            <a:endParaRPr lang="en-US"/>
          </a:p>
          <a:p>
            <a:endParaRPr lang="en-US" b="1" dirty="0"/>
          </a:p>
          <a:p>
            <a:r>
              <a:rPr lang="en-US" b="1" dirty="0"/>
              <a:t>Adherence Monitoring &amp; AI Prediction: </a:t>
            </a:r>
            <a:r>
              <a:rPr lang="en-US" dirty="0"/>
              <a:t>The system tracks intake/miss events to maintain an adherence log. A machine learning model (baseline logistic regression or classical model, with a future upgrade to a contextual transformer) analyzes historical patterns to score adherence risk. Early prototype can use synthetic or public data for training. </a:t>
            </a:r>
            <a:endParaRPr lang="en-US"/>
          </a:p>
          <a:p>
            <a:endParaRPr lang="en-US" b="1" dirty="0"/>
          </a:p>
          <a:p>
            <a:r>
              <a:rPr lang="en-US" b="1" dirty="0"/>
              <a:t>Intervention Agent: </a:t>
            </a:r>
            <a:r>
              <a:rPr lang="en-US" dirty="0"/>
              <a:t>Based on the risk score and recent events, this agent chooses an action from an expert-defined intervention policy. Actions include: sending an extra reminder via SMS/ notification, recommending a reassurance message, or triggering an alert to the caregiver/nurse if risk is high. </a:t>
            </a:r>
            <a:endParaRPr lang="en-US"/>
          </a:p>
          <a:p>
            <a:endParaRPr lang="en-US" dirty="0"/>
          </a:p>
          <a:p>
            <a:r>
              <a:rPr lang="en-US" b="1" dirty="0"/>
              <a:t>Care Coordinator Dashboard: </a:t>
            </a:r>
            <a:r>
              <a:rPr lang="en-US" dirty="0"/>
              <a:t>A web interface for caregivers/nurses that displays prioritized patient alerts, explanations, and allows adding notes or adjusting care plans. Notifications are tiered (low, medium, high priority) according to risk. </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82055F1-6FC9-A015-2333-2C12A8A31095}"/>
              </a:ext>
            </a:extLst>
          </p:cNvPr>
          <p:cNvSpPr/>
          <p:nvPr/>
        </p:nvSpPr>
        <p:spPr>
          <a:xfrm>
            <a:off x="201584" y="403169"/>
            <a:ext cx="8749145" cy="2402376"/>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EF62C4A-ABC5-3652-E593-7D72477EC38F}"/>
              </a:ext>
            </a:extLst>
          </p:cNvPr>
          <p:cNvSpPr txBox="1"/>
          <p:nvPr/>
        </p:nvSpPr>
        <p:spPr>
          <a:xfrm>
            <a:off x="596083" y="697457"/>
            <a:ext cx="798706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Explainability &amp; Safeguards:</a:t>
            </a:r>
            <a:r>
              <a:rPr lang="en-US" dirty="0"/>
              <a:t> </a:t>
            </a:r>
            <a:r>
              <a:rPr lang="en-US" dirty="0" err="1"/>
              <a:t>CareLink</a:t>
            </a:r>
            <a:r>
              <a:rPr lang="en-US" dirty="0"/>
              <a:t> will record why it flags a patient (e.g. “missed 3 of last 10 doses”) and display this to users. AI components will be strictly read-only; actual dose-record changes happen only via user input. </a:t>
            </a:r>
            <a:endParaRPr lang="en-US"/>
          </a:p>
          <a:p>
            <a:endParaRPr lang="en-US" dirty="0"/>
          </a:p>
          <a:p>
            <a:r>
              <a:rPr lang="en-US" b="1" dirty="0"/>
              <a:t>Optional Smartwatch Integration: </a:t>
            </a:r>
            <a:r>
              <a:rPr lang="en-US" dirty="0"/>
              <a:t>If available, the platform can ingest non-critical vitals (like resting BPM) via a provided API. If a patient’s vitals cross a threshold (e.g. very high heart rate), the system can send a high-priority alert to the caregiver. (This feature requires a chosen smartwatch with an open API; it’s low priority and can be excluded if not feasible.)</a:t>
            </a:r>
            <a:endParaRPr lang="en-US"/>
          </a:p>
        </p:txBody>
      </p:sp>
      <p:sp>
        <p:nvSpPr>
          <p:cNvPr id="7" name="Rounded Rectangle 4">
            <a:extLst>
              <a:ext uri="{FF2B5EF4-FFF2-40B4-BE49-F238E27FC236}">
                <a16:creationId xmlns:a16="http://schemas.microsoft.com/office/drawing/2014/main" id="{21A47987-DC1E-F200-260A-CAD03FBF2DEE}"/>
              </a:ext>
            </a:extLst>
          </p:cNvPr>
          <p:cNvSpPr/>
          <p:nvPr/>
        </p:nvSpPr>
        <p:spPr>
          <a:xfrm>
            <a:off x="201583" y="3156760"/>
            <a:ext cx="8749145" cy="2121822"/>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A037187-EDAD-C971-80DC-248A704AE2D6}"/>
              </a:ext>
            </a:extLst>
          </p:cNvPr>
          <p:cNvSpPr txBox="1"/>
          <p:nvPr/>
        </p:nvSpPr>
        <p:spPr>
          <a:xfrm>
            <a:off x="404231" y="3541019"/>
            <a:ext cx="8377353"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t>Methodology:</a:t>
            </a:r>
            <a:r>
              <a:rPr lang="en-US" dirty="0"/>
              <a:t> We will implement the core agentic workflow first: patient profiles, med schedules, adherence logging, basic ML risk model, and adaptive reminders. We’ll iteratively test with synthetic scenarios (e.g. simulate a patient missing doses) and refine. In parallel, we’ll develop the caregiver UI and messaging. Finally, we’ll evaluate via simulations or possibly a small pilot (e.g. colleague volunteers), measuring metrics like “true alerts / false alerts” and manual adherence assessments. </a:t>
            </a:r>
            <a:endParaRPr lang="en-US"/>
          </a:p>
        </p:txBody>
      </p:sp>
    </p:spTree>
    <p:extLst>
      <p:ext uri="{BB962C8B-B14F-4D97-AF65-F5344CB8AC3E}">
        <p14:creationId xmlns:p14="http://schemas.microsoft.com/office/powerpoint/2010/main" val="102929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724B8B-E71E-FB77-1BC7-67E86DA96F53}"/>
              </a:ext>
            </a:extLst>
          </p:cNvPr>
          <p:cNvPicPr>
            <a:picLocks noChangeAspect="1"/>
          </p:cNvPicPr>
          <p:nvPr/>
        </p:nvPicPr>
        <p:blipFill>
          <a:blip r:embed="rId2"/>
          <a:stretch>
            <a:fillRect/>
          </a:stretch>
        </p:blipFill>
        <p:spPr>
          <a:xfrm>
            <a:off x="0" y="612700"/>
            <a:ext cx="9144000" cy="5642989"/>
          </a:xfrm>
          <a:prstGeom prst="rect">
            <a:avLst/>
          </a:prstGeom>
        </p:spPr>
      </p:pic>
      <p:sp>
        <p:nvSpPr>
          <p:cNvPr id="5" name="TextBox 4">
            <a:extLst>
              <a:ext uri="{FF2B5EF4-FFF2-40B4-BE49-F238E27FC236}">
                <a16:creationId xmlns:a16="http://schemas.microsoft.com/office/drawing/2014/main" id="{7C992602-A80C-06D8-4F25-FA2AE03B10FF}"/>
              </a:ext>
            </a:extLst>
          </p:cNvPr>
          <p:cNvSpPr txBox="1"/>
          <p:nvPr/>
        </p:nvSpPr>
        <p:spPr>
          <a:xfrm>
            <a:off x="209085" y="139390"/>
            <a:ext cx="8558560" cy="6924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900" b="1" dirty="0">
                <a:solidFill>
                  <a:srgbClr val="1D3C68"/>
                </a:solidFill>
                <a:latin typeface="Aptos"/>
              </a:rPr>
              <a:t>Proposed Solution and Methodology. </a:t>
            </a:r>
            <a:r>
              <a:rPr lang="en-US" sz="1800" b="1" i="1" dirty="0">
                <a:solidFill>
                  <a:schemeClr val="tx1"/>
                </a:solidFill>
              </a:rPr>
              <a:t>System Architecture Diagram:</a:t>
            </a:r>
            <a:endParaRPr lang="en-US" sz="1800" dirty="0">
              <a:solidFill>
                <a:schemeClr val="tx1"/>
              </a:solidFill>
            </a:endParaRPr>
          </a:p>
          <a:p>
            <a:endParaRPr lang="en-US" sz="1900" b="1" dirty="0">
              <a:solidFill>
                <a:srgbClr val="1D3C68"/>
              </a:solidFill>
              <a:latin typeface="Aptos"/>
            </a:endParaRPr>
          </a:p>
        </p:txBody>
      </p:sp>
    </p:spTree>
    <p:extLst>
      <p:ext uri="{BB962C8B-B14F-4D97-AF65-F5344CB8AC3E}">
        <p14:creationId xmlns:p14="http://schemas.microsoft.com/office/powerpoint/2010/main" val="1126272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onnector 1">
            <a:extLst>
              <a:ext uri="{FF2B5EF4-FFF2-40B4-BE49-F238E27FC236}">
                <a16:creationId xmlns:a16="http://schemas.microsoft.com/office/drawing/2014/main" id="{60005497-56B2-1583-7941-7B016A5187A5}"/>
              </a:ext>
            </a:extLst>
          </p:cNvPr>
          <p:cNvCxnSpPr/>
          <p:nvPr/>
        </p:nvCxnSpPr>
        <p:spPr>
          <a:xfrm>
            <a:off x="777240" y="4005072"/>
            <a:ext cx="548640" cy="0"/>
          </a:xfrm>
          <a:prstGeom prst="line">
            <a:avLst/>
          </a:prstGeom>
          <a:ln w="33020">
            <a:solidFill>
              <a:srgbClr val="CF8F27"/>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C1A13759-3775-73EF-A389-DC2E0A657A2B}"/>
              </a:ext>
            </a:extLst>
          </p:cNvPr>
          <p:cNvSpPr txBox="1"/>
          <p:nvPr/>
        </p:nvSpPr>
        <p:spPr>
          <a:xfrm>
            <a:off x="777240" y="4338268"/>
            <a:ext cx="4155305" cy="430887"/>
          </a:xfrm>
          <a:prstGeom prst="rect">
            <a:avLst/>
          </a:prstGeom>
          <a:noFill/>
        </p:spPr>
        <p:txBody>
          <a:bodyPr wrap="none" lIns="91440" tIns="45720" rIns="91440" bIns="45720" anchor="ctr">
            <a:spAutoFit/>
          </a:bodyPr>
          <a:lstStyle/>
          <a:p>
            <a:r>
              <a:rPr lang="en-US" sz="2200" b="1" dirty="0">
                <a:solidFill>
                  <a:srgbClr val="1D3C68"/>
                </a:solidFill>
              </a:rPr>
              <a:t>Complex Computing Problem</a:t>
            </a:r>
            <a:endParaRPr lang="en-US" b="1" dirty="0"/>
          </a:p>
        </p:txBody>
      </p:sp>
      <p:sp>
        <p:nvSpPr>
          <p:cNvPr id="11" name="TextBox 10">
            <a:extLst>
              <a:ext uri="{FF2B5EF4-FFF2-40B4-BE49-F238E27FC236}">
                <a16:creationId xmlns:a16="http://schemas.microsoft.com/office/drawing/2014/main" id="{1F9D24D5-AB63-9296-6051-974DE4E4A526}"/>
              </a:ext>
            </a:extLst>
          </p:cNvPr>
          <p:cNvSpPr txBox="1"/>
          <p:nvPr/>
        </p:nvSpPr>
        <p:spPr>
          <a:xfrm>
            <a:off x="7818120" y="4251960"/>
            <a:ext cx="502920" cy="365760"/>
          </a:xfrm>
          <a:prstGeom prst="rect">
            <a:avLst/>
          </a:prstGeom>
          <a:noFill/>
        </p:spPr>
        <p:txBody>
          <a:bodyPr wrap="none" anchor="ctr">
            <a:spAutoFit/>
          </a:bodyPr>
          <a:lstStyle/>
          <a:p>
            <a:pPr algn="r"/>
            <a:r>
              <a:rPr sz="1000" b="1">
                <a:solidFill>
                  <a:srgbClr val="5353AD"/>
                </a:solidFill>
                <a:latin typeface="Aptos"/>
              </a:rPr>
              <a:t>06</a:t>
            </a:r>
          </a:p>
        </p:txBody>
      </p:sp>
      <p:sp>
        <p:nvSpPr>
          <p:cNvPr id="13" name="TextBox 12">
            <a:extLst>
              <a:ext uri="{FF2B5EF4-FFF2-40B4-BE49-F238E27FC236}">
                <a16:creationId xmlns:a16="http://schemas.microsoft.com/office/drawing/2014/main" id="{A6398A03-0D3A-E414-3E44-0E4557DE9B0F}"/>
              </a:ext>
            </a:extLst>
          </p:cNvPr>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15" name="TextBox 14">
            <a:extLst>
              <a:ext uri="{FF2B5EF4-FFF2-40B4-BE49-F238E27FC236}">
                <a16:creationId xmlns:a16="http://schemas.microsoft.com/office/drawing/2014/main" id="{9093839E-8F78-948D-D412-3991FB3D35A5}"/>
              </a:ext>
            </a:extLst>
          </p:cNvPr>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14</a:t>
            </a:r>
          </a:p>
        </p:txBody>
      </p:sp>
    </p:spTree>
    <p:extLst>
      <p:ext uri="{BB962C8B-B14F-4D97-AF65-F5344CB8AC3E}">
        <p14:creationId xmlns:p14="http://schemas.microsoft.com/office/powerpoint/2010/main" val="3253299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14330B-8C26-15ED-9D18-39BC70D2BEA6}"/>
              </a:ext>
            </a:extLst>
          </p:cNvPr>
          <p:cNvSpPr/>
          <p:nvPr/>
        </p:nvSpPr>
        <p:spPr>
          <a:xfrm>
            <a:off x="457200" y="274320"/>
            <a:ext cx="8229600" cy="5029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2400" b="1" dirty="0">
                <a:solidFill>
                  <a:srgbClr val="193B69"/>
                </a:solidFill>
                <a:latin typeface="Arial"/>
                <a:ea typeface="Arial" pitchFamily="34" charset="-122"/>
                <a:cs typeface="Arial"/>
              </a:rPr>
              <a:t>Complex Computing Problem</a:t>
            </a:r>
            <a:endParaRPr lang="en-US" sz="2400" dirty="0">
              <a:latin typeface="Arial"/>
              <a:cs typeface="Arial"/>
            </a:endParaRPr>
          </a:p>
        </p:txBody>
      </p:sp>
      <p:sp>
        <p:nvSpPr>
          <p:cNvPr id="5" name="Text 2">
            <a:extLst>
              <a:ext uri="{FF2B5EF4-FFF2-40B4-BE49-F238E27FC236}">
                <a16:creationId xmlns:a16="http://schemas.microsoft.com/office/drawing/2014/main" id="{F5A84FE9-04D0-3C7F-1D9B-DADF20911E5D}"/>
              </a:ext>
            </a:extLst>
          </p:cNvPr>
          <p:cNvSpPr/>
          <p:nvPr/>
        </p:nvSpPr>
        <p:spPr>
          <a:xfrm>
            <a:off x="457200" y="896112"/>
            <a:ext cx="8229600" cy="2743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50" dirty="0" err="1">
                <a:solidFill>
                  <a:srgbClr val="555555"/>
                </a:solidFill>
                <a:ea typeface="+mn-lt"/>
                <a:cs typeface="+mn-lt"/>
              </a:rPr>
              <a:t>CareLink’s</a:t>
            </a:r>
            <a:r>
              <a:rPr lang="en-US" sz="1250" dirty="0">
                <a:solidFill>
                  <a:srgbClr val="555555"/>
                </a:solidFill>
                <a:ea typeface="+mn-lt"/>
                <a:cs typeface="+mn-lt"/>
              </a:rPr>
              <a:t> core challenge is not a simple CRUD app; it is a Complex, interdisciplinary problem involving: </a:t>
            </a:r>
            <a:endParaRPr lang="en-US" dirty="0"/>
          </a:p>
        </p:txBody>
      </p:sp>
      <p:graphicFrame>
        <p:nvGraphicFramePr>
          <p:cNvPr id="7" name="Table 6">
            <a:extLst>
              <a:ext uri="{FF2B5EF4-FFF2-40B4-BE49-F238E27FC236}">
                <a16:creationId xmlns:a16="http://schemas.microsoft.com/office/drawing/2014/main" id="{83F23F32-D55B-10D3-BE3B-E300E9C32AF9}"/>
              </a:ext>
            </a:extLst>
          </p:cNvPr>
          <p:cNvGraphicFramePr>
            <a:graphicFrameLocks noGrp="1"/>
          </p:cNvGraphicFramePr>
          <p:nvPr>
            <p:extLst>
              <p:ext uri="{D42A27DB-BD31-4B8C-83A1-F6EECF244321}">
                <p14:modId xmlns:p14="http://schemas.microsoft.com/office/powerpoint/2010/main" val="1879273522"/>
              </p:ext>
            </p:extLst>
          </p:nvPr>
        </p:nvGraphicFramePr>
        <p:xfrm>
          <a:off x="461962" y="1200150"/>
          <a:ext cx="8220075" cy="4457700"/>
        </p:xfrm>
        <a:graphic>
          <a:graphicData uri="http://schemas.openxmlformats.org/drawingml/2006/table">
            <a:tbl>
              <a:tblPr bandRow="1">
                <a:tableStyleId>{5C22544A-7EE6-4342-B048-85BDC9FD1C3A}</a:tableStyleId>
              </a:tblPr>
              <a:tblGrid>
                <a:gridCol w="2009775">
                  <a:extLst>
                    <a:ext uri="{9D8B030D-6E8A-4147-A177-3AD203B41FA5}">
                      <a16:colId xmlns:a16="http://schemas.microsoft.com/office/drawing/2014/main" val="2214799003"/>
                    </a:ext>
                  </a:extLst>
                </a:gridCol>
                <a:gridCol w="6210300">
                  <a:extLst>
                    <a:ext uri="{9D8B030D-6E8A-4147-A177-3AD203B41FA5}">
                      <a16:colId xmlns:a16="http://schemas.microsoft.com/office/drawing/2014/main" val="1326254479"/>
                    </a:ext>
                  </a:extLst>
                </a:gridCol>
              </a:tblGrid>
              <a:tr h="1114425">
                <a:tc>
                  <a:txBody>
                    <a:bodyPr/>
                    <a:lstStyle/>
                    <a:p>
                      <a:pPr marL="0" lvl="0" indent="0" algn="l">
                        <a:buNone/>
                      </a:pPr>
                      <a:r>
                        <a:rPr lang="en-US" sz="1000" b="1" i="0" dirty="0">
                          <a:solidFill>
                            <a:srgbClr val="FFFFFF"/>
                          </a:solidFill>
                          <a:effectLst/>
                          <a:latin typeface="Arial"/>
                        </a:rPr>
                        <a:t>Attribute</a:t>
                      </a:r>
                      <a:endParaRPr lang="en-US" b="0" i="0" dirty="0">
                        <a:solidFill>
                          <a:srgbClr val="000000"/>
                        </a:solidFill>
                        <a:effectLst/>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93B69"/>
                    </a:solidFill>
                  </a:tcPr>
                </a:tc>
                <a:tc>
                  <a:txBody>
                    <a:bodyPr/>
                    <a:lstStyle/>
                    <a:p>
                      <a:pPr marL="0" lvl="0" indent="0" algn="l">
                        <a:buNone/>
                      </a:pPr>
                      <a:r>
                        <a:rPr lang="en-US" sz="1000" b="1" i="0" u="none" strike="noStrike" noProof="0" dirty="0">
                          <a:solidFill>
                            <a:srgbClr val="FFFFFF"/>
                          </a:solidFill>
                          <a:effectLst/>
                        </a:rPr>
                        <a:t>How</a:t>
                      </a:r>
                      <a:r>
                        <a:rPr lang="en-US" sz="1000" b="0" i="0" u="none" strike="noStrike" noProof="0" dirty="0">
                          <a:solidFill>
                            <a:srgbClr val="FFFFFF"/>
                          </a:solidFill>
                          <a:effectLst/>
                        </a:rPr>
                        <a:t> </a:t>
                      </a:r>
                      <a:r>
                        <a:rPr lang="en-US" sz="1000" b="1" i="0" u="none" strike="noStrike" noProof="0" dirty="0" err="1">
                          <a:solidFill>
                            <a:srgbClr val="FFFFFF"/>
                          </a:solidFill>
                          <a:effectLst/>
                        </a:rPr>
                        <a:t>CareLink</a:t>
                      </a:r>
                      <a:r>
                        <a:rPr lang="en-US" sz="1000" b="1" i="0" u="none" strike="noStrike" noProof="0" dirty="0">
                          <a:solidFill>
                            <a:srgbClr val="FFFFFF"/>
                          </a:solidFill>
                          <a:effectLst/>
                        </a:rPr>
                        <a:t> Achieves It</a:t>
                      </a:r>
                      <a:endParaRPr lang="en-US" sz="1000" u="none" strike="noStrike" noProof="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93B69"/>
                    </a:solidFill>
                  </a:tcPr>
                </a:tc>
                <a:extLst>
                  <a:ext uri="{0D108BD9-81ED-4DB2-BD59-A6C34878D82A}">
                    <a16:rowId xmlns:a16="http://schemas.microsoft.com/office/drawing/2014/main" val="1676082425"/>
                  </a:ext>
                </a:extLst>
              </a:tr>
              <a:tr h="1114425">
                <a:tc>
                  <a:txBody>
                    <a:bodyPr/>
                    <a:lstStyle/>
                    <a:p>
                      <a:pPr marL="0" lvl="0" indent="0" algn="l">
                        <a:buNone/>
                      </a:pPr>
                      <a:r>
                        <a:rPr lang="en-US" sz="1050" b="0" i="0" u="none" strike="noStrike" noProof="0" dirty="0">
                          <a:solidFill>
                            <a:srgbClr val="000000"/>
                          </a:solidFill>
                          <a:effectLst/>
                        </a:rPr>
                        <a:t>Conflicting requirements</a:t>
                      </a:r>
                      <a:endParaRPr lang="en-US" dirty="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marL="0" lvl="0" indent="0" algn="l">
                        <a:buNone/>
                      </a:pPr>
                      <a:r>
                        <a:rPr lang="en-US" sz="1050" b="0" i="0" u="none" strike="noStrike" noProof="0" dirty="0">
                          <a:solidFill>
                            <a:srgbClr val="000000"/>
                          </a:solidFill>
                          <a:effectLst/>
                        </a:rPr>
                        <a:t>Patients need simplicity, while caregivers need enough information. We must balance privacy (keep patient data secure) against transparency (provide context for risk alerts). Also, safety vs usability: we cannot auto-adjust therapy (safety), but we should minimize unnecessary alerts (usability). These inherent trade-offs make the requirements conflicting. </a:t>
                      </a:r>
                      <a:endParaRPr lang="en-US" dirty="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899233218"/>
                  </a:ext>
                </a:extLst>
              </a:tr>
              <a:tr h="1114425">
                <a:tc>
                  <a:txBody>
                    <a:bodyPr/>
                    <a:lstStyle/>
                    <a:p>
                      <a:pPr marL="0" lvl="0" indent="0" algn="l">
                        <a:buNone/>
                      </a:pPr>
                      <a:r>
                        <a:rPr lang="en-US" sz="1050" b="0" i="0" u="none" strike="noStrike" noProof="0" dirty="0">
                          <a:solidFill>
                            <a:srgbClr val="000000"/>
                          </a:solidFill>
                          <a:effectLst/>
                        </a:rPr>
                        <a:t>Depth of analysis</a:t>
                      </a:r>
                      <a:endParaRPr lang="en-US" dirty="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2F6"/>
                    </a:solidFill>
                  </a:tcPr>
                </a:tc>
                <a:tc>
                  <a:txBody>
                    <a:bodyPr/>
                    <a:lstStyle/>
                    <a:p>
                      <a:pPr marL="0" lvl="0" indent="0" algn="l">
                        <a:buNone/>
                      </a:pPr>
                      <a:r>
                        <a:rPr lang="en-US" sz="1050" b="0" i="0" u="none" strike="noStrike" noProof="0" dirty="0">
                          <a:solidFill>
                            <a:srgbClr val="000000"/>
                          </a:solidFill>
                          <a:effectLst/>
                        </a:rPr>
                        <a:t>The system must model and predict human behavior (medication-taking), which is not deterministic. Designing a prediction model and adaptive intervention policy requires substantial analysis (time-series patterns, feature engineering, risk thresholds), not just “if X then Y”. We must also analyze which features (history, demographics, prescriptions) best signal nonadherence, similar to published ML studies.</a:t>
                      </a:r>
                      <a:endParaRPr lang="en-US" dirty="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2F6"/>
                    </a:solidFill>
                  </a:tcPr>
                </a:tc>
                <a:extLst>
                  <a:ext uri="{0D108BD9-81ED-4DB2-BD59-A6C34878D82A}">
                    <a16:rowId xmlns:a16="http://schemas.microsoft.com/office/drawing/2014/main" val="1443969040"/>
                  </a:ext>
                </a:extLst>
              </a:tr>
              <a:tr h="1114425">
                <a:tc>
                  <a:txBody>
                    <a:bodyPr/>
                    <a:lstStyle/>
                    <a:p>
                      <a:pPr marL="0" lvl="0" indent="0" algn="l">
                        <a:buNone/>
                      </a:pPr>
                      <a:r>
                        <a:rPr lang="en-US" sz="1050" b="0" i="0" u="none" strike="noStrike" noProof="0" dirty="0">
                          <a:solidFill>
                            <a:srgbClr val="000000"/>
                          </a:solidFill>
                          <a:effectLst/>
                        </a:rPr>
                        <a:t>Depth of knowledge</a:t>
                      </a:r>
                      <a:endParaRPr lang="en-US" dirty="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marL="0" lvl="0" indent="0" algn="l">
                        <a:buNone/>
                      </a:pPr>
                      <a:r>
                        <a:rPr lang="en-US" sz="1050" b="0" i="0" u="none" strike="noStrike" noProof="0" dirty="0">
                          <a:solidFill>
                            <a:srgbClr val="000000"/>
                          </a:solidFill>
                          <a:effectLst/>
                        </a:rPr>
                        <a:t>This project spans multiple domains: AI/ML for prediction, software engineering for system integration, cybersecurity for privacy, databases for longitudinal health data, and healthcare domain knowledge (medication schedules, side effects, escalation protocols). For example, we’ll rely on healthcare literature and our advisors to set realistic risk thresholds and escalation rules.</a:t>
                      </a:r>
                      <a:endParaRPr lang="en-US" dirty="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204019826"/>
                  </a:ext>
                </a:extLst>
              </a:tr>
            </a:tbl>
          </a:graphicData>
        </a:graphic>
      </p:graphicFrame>
      <p:sp>
        <p:nvSpPr>
          <p:cNvPr id="9" name="TextBox 8">
            <a:extLst>
              <a:ext uri="{FF2B5EF4-FFF2-40B4-BE49-F238E27FC236}">
                <a16:creationId xmlns:a16="http://schemas.microsoft.com/office/drawing/2014/main" id="{34AFBABF-7209-A5BE-519D-BBCC2546D9A9}"/>
              </a:ext>
            </a:extLst>
          </p:cNvPr>
          <p:cNvSpPr txBox="1"/>
          <p:nvPr/>
        </p:nvSpPr>
        <p:spPr>
          <a:xfrm>
            <a:off x="8181802" y="272242"/>
            <a:ext cx="502920" cy="365760"/>
          </a:xfrm>
          <a:prstGeom prst="rect">
            <a:avLst/>
          </a:prstGeom>
          <a:noFill/>
        </p:spPr>
        <p:txBody>
          <a:bodyPr wrap="none" anchor="ctr">
            <a:spAutoFit/>
          </a:bodyPr>
          <a:lstStyle/>
          <a:p>
            <a:pPr algn="r"/>
            <a:r>
              <a:rPr sz="1000" b="1">
                <a:solidFill>
                  <a:srgbClr val="5353AD"/>
                </a:solidFill>
                <a:latin typeface="Aptos"/>
              </a:rPr>
              <a:t>06</a:t>
            </a:r>
          </a:p>
        </p:txBody>
      </p:sp>
    </p:spTree>
    <p:extLst>
      <p:ext uri="{BB962C8B-B14F-4D97-AF65-F5344CB8AC3E}">
        <p14:creationId xmlns:p14="http://schemas.microsoft.com/office/powerpoint/2010/main" val="1723188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B7FB71C-4713-1362-76C1-597B521C08B7}"/>
              </a:ext>
            </a:extLst>
          </p:cNvPr>
          <p:cNvGraphicFramePr>
            <a:graphicFrameLocks noGrp="1"/>
          </p:cNvGraphicFramePr>
          <p:nvPr>
            <p:extLst>
              <p:ext uri="{D42A27DB-BD31-4B8C-83A1-F6EECF244321}">
                <p14:modId xmlns:p14="http://schemas.microsoft.com/office/powerpoint/2010/main" val="2400050270"/>
              </p:ext>
            </p:extLst>
          </p:nvPr>
        </p:nvGraphicFramePr>
        <p:xfrm>
          <a:off x="467591" y="207818"/>
          <a:ext cx="8220075" cy="5546423"/>
        </p:xfrm>
        <a:graphic>
          <a:graphicData uri="http://schemas.openxmlformats.org/drawingml/2006/table">
            <a:tbl>
              <a:tblPr bandRow="1">
                <a:tableStyleId>{5C22544A-7EE6-4342-B048-85BDC9FD1C3A}</a:tableStyleId>
              </a:tblPr>
              <a:tblGrid>
                <a:gridCol w="2009775">
                  <a:extLst>
                    <a:ext uri="{9D8B030D-6E8A-4147-A177-3AD203B41FA5}">
                      <a16:colId xmlns:a16="http://schemas.microsoft.com/office/drawing/2014/main" val="2214799003"/>
                    </a:ext>
                  </a:extLst>
                </a:gridCol>
                <a:gridCol w="6210300">
                  <a:extLst>
                    <a:ext uri="{9D8B030D-6E8A-4147-A177-3AD203B41FA5}">
                      <a16:colId xmlns:a16="http://schemas.microsoft.com/office/drawing/2014/main" val="1326254479"/>
                    </a:ext>
                  </a:extLst>
                </a:gridCol>
              </a:tblGrid>
              <a:tr h="924403">
                <a:tc>
                  <a:txBody>
                    <a:bodyPr/>
                    <a:lstStyle/>
                    <a:p>
                      <a:pPr marL="0" lvl="0" indent="0" algn="l">
                        <a:buNone/>
                      </a:pPr>
                      <a:r>
                        <a:rPr lang="en-US" sz="1000" b="1" i="0" dirty="0">
                          <a:solidFill>
                            <a:srgbClr val="FFFFFF"/>
                          </a:solidFill>
                          <a:effectLst/>
                          <a:latin typeface="Arial"/>
                        </a:rPr>
                        <a:t>Attribute</a:t>
                      </a:r>
                      <a:endParaRPr lang="en-US" b="0" i="0" dirty="0">
                        <a:solidFill>
                          <a:srgbClr val="000000"/>
                        </a:solidFill>
                        <a:effectLst/>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93B69"/>
                    </a:solidFill>
                  </a:tcPr>
                </a:tc>
                <a:tc>
                  <a:txBody>
                    <a:bodyPr/>
                    <a:lstStyle/>
                    <a:p>
                      <a:pPr marL="0" lvl="0" indent="0" algn="l">
                        <a:buNone/>
                      </a:pPr>
                      <a:r>
                        <a:rPr lang="en-US" sz="1000" b="1" i="0" u="none" strike="noStrike" noProof="0" dirty="0">
                          <a:solidFill>
                            <a:srgbClr val="FFFFFF"/>
                          </a:solidFill>
                          <a:effectLst/>
                        </a:rPr>
                        <a:t>How</a:t>
                      </a:r>
                      <a:r>
                        <a:rPr lang="en-US" sz="1000" b="0" i="0" u="none" strike="noStrike" noProof="0" dirty="0">
                          <a:solidFill>
                            <a:srgbClr val="FFFFFF"/>
                          </a:solidFill>
                          <a:effectLst/>
                        </a:rPr>
                        <a:t> </a:t>
                      </a:r>
                      <a:r>
                        <a:rPr lang="en-US" sz="1000" b="1" i="0" u="none" strike="noStrike" noProof="0" dirty="0" err="1">
                          <a:solidFill>
                            <a:srgbClr val="FFFFFF"/>
                          </a:solidFill>
                          <a:effectLst/>
                        </a:rPr>
                        <a:t>CareLink</a:t>
                      </a:r>
                      <a:r>
                        <a:rPr lang="en-US" sz="1000" b="1" i="0" u="none" strike="noStrike" noProof="0" dirty="0">
                          <a:solidFill>
                            <a:srgbClr val="FFFFFF"/>
                          </a:solidFill>
                          <a:effectLst/>
                        </a:rPr>
                        <a:t> Achieves It</a:t>
                      </a:r>
                      <a:endParaRPr lang="en-US" sz="1000" u="none" strike="noStrike" noProof="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93B69"/>
                    </a:solidFill>
                  </a:tcPr>
                </a:tc>
                <a:extLst>
                  <a:ext uri="{0D108BD9-81ED-4DB2-BD59-A6C34878D82A}">
                    <a16:rowId xmlns:a16="http://schemas.microsoft.com/office/drawing/2014/main" val="1676082425"/>
                  </a:ext>
                </a:extLst>
              </a:tr>
              <a:tr h="924404">
                <a:tc>
                  <a:txBody>
                    <a:bodyPr/>
                    <a:lstStyle/>
                    <a:p>
                      <a:pPr marL="0" lvl="0" indent="0" algn="l">
                        <a:buNone/>
                      </a:pPr>
                      <a:r>
                        <a:rPr lang="en-US" sz="1050" b="0" i="0" u="none" strike="noStrike" noProof="0" dirty="0">
                          <a:solidFill>
                            <a:srgbClr val="000000"/>
                          </a:solidFill>
                          <a:effectLst/>
                          <a:latin typeface="Arial"/>
                          <a:cs typeface="Arial"/>
                        </a:rPr>
                        <a:t>Level of problem</a:t>
                      </a:r>
                      <a:endParaRPr lang="en-US" dirty="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marL="0" lvl="0" indent="0" algn="l">
                        <a:buNone/>
                      </a:pPr>
                      <a:r>
                        <a:rPr lang="en-US" sz="1050" b="0" i="0" u="none" strike="noStrike" noProof="0" dirty="0">
                          <a:solidFill>
                            <a:srgbClr val="000000"/>
                          </a:solidFill>
                          <a:effectLst/>
                          <a:latin typeface="Arial"/>
                          <a:cs typeface="Arial"/>
                        </a:rPr>
                        <a:t>The core problem is not well-defined like a textbook CRUD application. We know our goal (reduce non-adherence), but exactly how to model it and when to escalate is uncertain and will require research/experimentation. The literature (like [2], [9]) suggests multiple open questions (e.g. effective AI interventions), so our task is investigation-driven.</a:t>
                      </a:r>
                      <a:endParaRPr lang="en-US" dirty="0">
                        <a:latin typeface="Arial"/>
                        <a:cs typeface="Arial"/>
                      </a:endParaRPr>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899233218"/>
                  </a:ext>
                </a:extLst>
              </a:tr>
              <a:tr h="924404">
                <a:tc>
                  <a:txBody>
                    <a:bodyPr/>
                    <a:lstStyle/>
                    <a:p>
                      <a:pPr marL="0" lvl="0" indent="0" algn="l">
                        <a:buNone/>
                      </a:pPr>
                      <a:r>
                        <a:rPr lang="en-US" sz="1050" b="0" i="0" u="none" strike="noStrike" noProof="0" dirty="0">
                          <a:solidFill>
                            <a:srgbClr val="000000"/>
                          </a:solidFill>
                          <a:effectLst/>
                          <a:latin typeface="Arial"/>
                          <a:cs typeface="Arial"/>
                        </a:rPr>
                        <a:t>Stakeholder involvement</a:t>
                      </a:r>
                      <a:endParaRPr lang="en-US" dirty="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2F6"/>
                    </a:solidFill>
                  </a:tcPr>
                </a:tc>
                <a:tc>
                  <a:txBody>
                    <a:bodyPr/>
                    <a:lstStyle/>
                    <a:p>
                      <a:pPr marL="0" lvl="0" indent="0" algn="l">
                        <a:buNone/>
                      </a:pPr>
                      <a:r>
                        <a:rPr lang="en-US" sz="1050" b="0" i="0" u="none" strike="noStrike" noProof="0" dirty="0">
                          <a:solidFill>
                            <a:srgbClr val="000000"/>
                          </a:solidFill>
                          <a:effectLst/>
                          <a:latin typeface="Arial"/>
                          <a:cs typeface="Arial"/>
                        </a:rPr>
                        <a:t>Multiple stakeholders must be considered: the patient (often </a:t>
                      </a:r>
                      <a:r>
                        <a:rPr lang="en-US" sz="1050" b="0" i="0" u="none" strike="noStrike" noProof="0" dirty="0" err="1">
                          <a:solidFill>
                            <a:srgbClr val="000000"/>
                          </a:solidFill>
                          <a:effectLst/>
                          <a:latin typeface="Arial"/>
                          <a:cs typeface="Arial"/>
                        </a:rPr>
                        <a:t>technovice</a:t>
                      </a:r>
                      <a:r>
                        <a:rPr lang="en-US" sz="1050" b="0" i="0" u="none" strike="noStrike" noProof="0" dirty="0">
                          <a:solidFill>
                            <a:srgbClr val="000000"/>
                          </a:solidFill>
                          <a:effectLst/>
                          <a:latin typeface="Arial"/>
                          <a:cs typeface="Arial"/>
                        </a:rPr>
                        <a:t>), family caregiver(s), possibly a professional nurse, and system administrators. Each has different needs. For example, a caregiver might want detailed alerts and explanations, while the patient wants minimal disruption. We must design interfaces and flows respecting all roles. </a:t>
                      </a:r>
                      <a:r>
                        <a:rPr lang="en-US" sz="1050" b="0" i="0" u="none" strike="noStrike" noProof="0" dirty="0">
                          <a:solidFill>
                            <a:srgbClr val="000000"/>
                          </a:solidFill>
                          <a:effectLst/>
                        </a:rPr>
                        <a:t>.</a:t>
                      </a:r>
                      <a:endParaRPr lang="en-US" dirty="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2F6"/>
                    </a:solidFill>
                  </a:tcPr>
                </a:tc>
                <a:extLst>
                  <a:ext uri="{0D108BD9-81ED-4DB2-BD59-A6C34878D82A}">
                    <a16:rowId xmlns:a16="http://schemas.microsoft.com/office/drawing/2014/main" val="1443969040"/>
                  </a:ext>
                </a:extLst>
              </a:tr>
              <a:tr h="924404">
                <a:tc>
                  <a:txBody>
                    <a:bodyPr/>
                    <a:lstStyle/>
                    <a:p>
                      <a:pPr marL="0" lvl="0" indent="0" algn="l">
                        <a:buNone/>
                      </a:pPr>
                      <a:r>
                        <a:rPr lang="en-US" sz="1050" b="0" i="0" u="none" strike="noStrike" noProof="0" dirty="0">
                          <a:solidFill>
                            <a:srgbClr val="000000"/>
                          </a:solidFill>
                          <a:effectLst/>
                        </a:rPr>
                        <a:t>C</a:t>
                      </a:r>
                      <a:r>
                        <a:rPr lang="en-US" sz="1050" b="0" i="0" u="none" strike="noStrike" noProof="0" dirty="0">
                          <a:solidFill>
                            <a:srgbClr val="000000"/>
                          </a:solidFill>
                          <a:effectLst/>
                          <a:latin typeface="Arial"/>
                          <a:cs typeface="Arial"/>
                        </a:rPr>
                        <a:t>onsequences</a:t>
                      </a:r>
                      <a:endParaRPr lang="en-US" dirty="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marL="0" lvl="0" indent="0" algn="l">
                        <a:buNone/>
                      </a:pPr>
                      <a:r>
                        <a:rPr lang="en-US" sz="1050" b="0" i="0" u="none" strike="noStrike" noProof="0" dirty="0">
                          <a:solidFill>
                            <a:srgbClr val="000000"/>
                          </a:solidFill>
                          <a:effectLst/>
                          <a:latin typeface="Arial"/>
                          <a:cs typeface="Arial"/>
                        </a:rPr>
                        <a:t>This system deals with health outcomes. Mistakes (false positives, false negatives) have consequences. A false alarm might annoy a caregiver; a missed alert could lead to a serious health event. We must build with error analysis (e.g. confidence scores) and always allow human override, which adds to complexity. This elevates its criticality above ordinary apps. </a:t>
                      </a:r>
                      <a:endParaRPr lang="en-US" dirty="0"/>
                    </a:p>
                  </a:txBody>
                  <a:tcP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204019826"/>
                  </a:ext>
                </a:extLst>
              </a:tr>
              <a:tr h="924404">
                <a:tc>
                  <a:txBody>
                    <a:bodyPr/>
                    <a:lstStyle/>
                    <a:p>
                      <a:pPr marL="0" lvl="0" indent="0" algn="l">
                        <a:buNone/>
                      </a:pPr>
                      <a:r>
                        <a:rPr lang="en-US" sz="1050" b="0" i="0" u="none" strike="noStrike" noProof="0" dirty="0">
                          <a:solidFill>
                            <a:srgbClr val="000000"/>
                          </a:solidFill>
                          <a:effectLst/>
                        </a:rPr>
                        <a:t>Interdependence</a:t>
                      </a:r>
                      <a:endParaRPr lang="en-US" dirty="0"/>
                    </a:p>
                  </a:txBody>
                  <a:tcPr>
                    <a:lnL w="9524">
                      <a:solidFill>
                        <a:srgbClr val="DDDDDD"/>
                      </a:solidFill>
                    </a:lnL>
                    <a:lnR w="9524">
                      <a:solidFill>
                        <a:srgbClr val="DDDDDD"/>
                      </a:solidFill>
                    </a:lnR>
                    <a:lnT w="9525" cap="flat" cmpd="sng" algn="ctr">
                      <a:solidFill>
                        <a:srgbClr val="DDDDDD"/>
                      </a:solidFill>
                      <a:prstDash val="solid"/>
                      <a:round/>
                      <a:headEnd type="none" w="med" len="med"/>
                      <a:tailEnd type="none" w="med" len="med"/>
                    </a:lnT>
                    <a:lnB w="9524">
                      <a:solidFill>
                        <a:srgbClr val="DDDDDD"/>
                      </a:solidFill>
                    </a:lnB>
                    <a:noFill/>
                  </a:tcPr>
                </a:tc>
                <a:tc>
                  <a:txBody>
                    <a:bodyPr/>
                    <a:lstStyle/>
                    <a:p>
                      <a:pPr marL="0" lvl="0" indent="0" algn="l">
                        <a:buNone/>
                      </a:pPr>
                      <a:r>
                        <a:rPr lang="en-US" sz="1050" b="0" i="0" u="none" strike="noStrike" noProof="0" dirty="0">
                          <a:solidFill>
                            <a:srgbClr val="000000"/>
                          </a:solidFill>
                          <a:effectLst/>
                        </a:rPr>
                        <a:t>The functionality is highly interconnected: medication data → adherence log → risk model → intervention agent → caregiver notification → (hopefully) changed patient behavior → new data. Errors or changes in one component propagate through the workflow. For instance, an </a:t>
                      </a:r>
                      <a:r>
                        <a:rPr lang="en-US" sz="1050" b="0" i="0" u="none" strike="noStrike" noProof="0" dirty="0">
                          <a:solidFill>
                            <a:srgbClr val="000000"/>
                          </a:solidFill>
                          <a:effectLst/>
                          <a:latin typeface="Arial"/>
                          <a:cs typeface="Arial"/>
                        </a:rPr>
                        <a:t>inaccurate risk score leads directly to inappropriate escalations. We must carefully design and test each link.</a:t>
                      </a:r>
                      <a:endParaRPr lang="en-US" dirty="0"/>
                    </a:p>
                  </a:txBody>
                  <a:tcPr>
                    <a:lnL w="9524">
                      <a:solidFill>
                        <a:srgbClr val="DDDDDD"/>
                      </a:solidFill>
                    </a:lnL>
                    <a:lnR w="9524">
                      <a:solidFill>
                        <a:srgbClr val="DDDDDD"/>
                      </a:solidFill>
                    </a:lnR>
                    <a:lnT w="9525" cap="flat" cmpd="sng" algn="ctr">
                      <a:solidFill>
                        <a:srgbClr val="DDDDDD"/>
                      </a:solidFill>
                      <a:prstDash val="solid"/>
                      <a:round/>
                      <a:headEnd type="none" w="med" len="med"/>
                      <a:tailEnd type="none" w="med" len="med"/>
                    </a:lnT>
                    <a:lnB w="9524">
                      <a:solidFill>
                        <a:srgbClr val="DDDDDD"/>
                      </a:solidFill>
                    </a:lnB>
                    <a:noFill/>
                  </a:tcPr>
                </a:tc>
                <a:extLst>
                  <a:ext uri="{0D108BD9-81ED-4DB2-BD59-A6C34878D82A}">
                    <a16:rowId xmlns:a16="http://schemas.microsoft.com/office/drawing/2014/main" val="2359349546"/>
                  </a:ext>
                </a:extLst>
              </a:tr>
              <a:tr h="924404">
                <a:tc>
                  <a:txBody>
                    <a:bodyPr/>
                    <a:lstStyle/>
                    <a:p>
                      <a:pPr marL="0" lvl="0" indent="0" algn="l">
                        <a:buNone/>
                      </a:pPr>
                      <a:r>
                        <a:rPr lang="en-US" sz="1050" b="0" i="0" u="none" strike="noStrike" noProof="0" dirty="0">
                          <a:solidFill>
                            <a:srgbClr val="000000"/>
                          </a:solidFill>
                          <a:effectLst/>
                        </a:rPr>
                        <a:t>Requirement identification</a:t>
                      </a:r>
                      <a:endParaRPr lang="en-US" dirty="0"/>
                    </a:p>
                  </a:txBody>
                  <a:tcPr>
                    <a:lnL w="9524">
                      <a:solidFill>
                        <a:srgbClr val="DDDDDD"/>
                      </a:solidFill>
                    </a:lnL>
                    <a:lnR w="9524">
                      <a:solidFill>
                        <a:srgbClr val="DDDDDD"/>
                      </a:solidFill>
                    </a:lnR>
                    <a:lnT w="9524">
                      <a:solidFill>
                        <a:srgbClr val="DDDDDD"/>
                      </a:solidFill>
                    </a:lnT>
                    <a:lnB w="9524">
                      <a:solidFill>
                        <a:srgbClr val="DDDDDD"/>
                      </a:solidFill>
                    </a:lnB>
                    <a:noFill/>
                  </a:tcPr>
                </a:tc>
                <a:tc>
                  <a:txBody>
                    <a:bodyPr/>
                    <a:lstStyle/>
                    <a:p>
                      <a:pPr marL="0" lvl="0" indent="0" algn="l">
                        <a:buNone/>
                      </a:pPr>
                      <a:r>
                        <a:rPr lang="en-US" sz="1050" b="0" i="0" u="none" strike="noStrike" noProof="0" dirty="0">
                          <a:solidFill>
                            <a:srgbClr val="000000"/>
                          </a:solidFill>
                          <a:effectLst/>
                        </a:rPr>
                        <a:t>The high-level goal (“improve adherence”) is clear, but detailed requirements (e.g. “when exactly to alert caregiver”) will evolve as we prototype. We may need user feedback from healthcare stakeholders to refine these rules, making some requirements initially broad or flexible. </a:t>
                      </a:r>
                      <a:endParaRPr lang="en-US" dirty="0"/>
                    </a:p>
                  </a:txBody>
                  <a:tcPr>
                    <a:lnL w="9524">
                      <a:solidFill>
                        <a:srgbClr val="DDDDDD"/>
                      </a:solidFill>
                    </a:lnL>
                    <a:lnR w="9524">
                      <a:solidFill>
                        <a:srgbClr val="DDDDDD"/>
                      </a:solidFill>
                    </a:lnR>
                    <a:lnT w="9524">
                      <a:solidFill>
                        <a:srgbClr val="DDDDDD"/>
                      </a:solidFill>
                    </a:lnT>
                    <a:lnB w="9524">
                      <a:solidFill>
                        <a:srgbClr val="DDDDDD"/>
                      </a:solidFill>
                    </a:lnB>
                    <a:noFill/>
                  </a:tcPr>
                </a:tc>
                <a:extLst>
                  <a:ext uri="{0D108BD9-81ED-4DB2-BD59-A6C34878D82A}">
                    <a16:rowId xmlns:a16="http://schemas.microsoft.com/office/drawing/2014/main" val="1552197331"/>
                  </a:ext>
                </a:extLst>
              </a:tr>
            </a:tbl>
          </a:graphicData>
        </a:graphic>
      </p:graphicFrame>
    </p:spTree>
    <p:extLst>
      <p:ext uri="{BB962C8B-B14F-4D97-AF65-F5344CB8AC3E}">
        <p14:creationId xmlns:p14="http://schemas.microsoft.com/office/powerpoint/2010/main" val="877870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cxnSp>
        <p:nvCxnSpPr>
          <p:cNvPr id="2" name="Connector 1"/>
          <p:cNvCxnSpPr/>
          <p:nvPr/>
        </p:nvCxnSpPr>
        <p:spPr>
          <a:xfrm>
            <a:off x="777240" y="4005072"/>
            <a:ext cx="548640" cy="0"/>
          </a:xfrm>
          <a:prstGeom prst="line">
            <a:avLst/>
          </a:prstGeom>
          <a:ln w="33020">
            <a:solidFill>
              <a:srgbClr val="CF8F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4224528"/>
            <a:ext cx="7498079" cy="658368"/>
          </a:xfrm>
          <a:prstGeom prst="rect">
            <a:avLst/>
          </a:prstGeom>
          <a:noFill/>
        </p:spPr>
        <p:txBody>
          <a:bodyPr wrap="none" anchor="ctr">
            <a:spAutoFit/>
          </a:bodyPr>
          <a:lstStyle/>
          <a:p>
            <a:pPr algn="l"/>
            <a:r>
              <a:rPr sz="2200" b="1">
                <a:solidFill>
                  <a:srgbClr val="1D3C68"/>
                </a:solidFill>
                <a:latin typeface="Aptos"/>
              </a:rPr>
              <a:t>PROJECT SCOPE</a:t>
            </a:r>
          </a:p>
        </p:txBody>
      </p:sp>
      <p:sp>
        <p:nvSpPr>
          <p:cNvPr id="4" name="TextBox 3"/>
          <p:cNvSpPr txBox="1"/>
          <p:nvPr/>
        </p:nvSpPr>
        <p:spPr>
          <a:xfrm>
            <a:off x="7818120" y="4311729"/>
            <a:ext cx="502920" cy="246221"/>
          </a:xfrm>
          <a:prstGeom prst="rect">
            <a:avLst/>
          </a:prstGeom>
          <a:noFill/>
        </p:spPr>
        <p:txBody>
          <a:bodyPr wrap="square" lIns="91440" tIns="45720" rIns="91440" bIns="45720" anchor="ctr">
            <a:spAutoFit/>
          </a:bodyPr>
          <a:lstStyle/>
          <a:p>
            <a:pPr algn="r"/>
            <a:r>
              <a:rPr lang="en-US" sz="1000" b="1" dirty="0">
                <a:solidFill>
                  <a:srgbClr val="5353AD"/>
                </a:solidFill>
                <a:latin typeface="Aptos"/>
              </a:rPr>
              <a:t>07</a:t>
            </a:r>
            <a:endParaRPr sz="1000" b="1" dirty="0">
              <a:solidFill>
                <a:srgbClr val="5353AD"/>
              </a:solidFill>
              <a:latin typeface="Aptos"/>
            </a:endParaRPr>
          </a:p>
        </p:txBody>
      </p:sp>
      <p:sp>
        <p:nvSpPr>
          <p:cNvPr id="5" name="TextBox 4"/>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6" name="TextBox 5"/>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14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2" name="TextBox 1"/>
          <p:cNvSpPr txBox="1"/>
          <p:nvPr/>
        </p:nvSpPr>
        <p:spPr>
          <a:xfrm>
            <a:off x="502920" y="246888"/>
            <a:ext cx="7132320" cy="411480"/>
          </a:xfrm>
          <a:prstGeom prst="rect">
            <a:avLst/>
          </a:prstGeom>
          <a:noFill/>
        </p:spPr>
        <p:txBody>
          <a:bodyPr wrap="none" anchor="ctr">
            <a:spAutoFit/>
          </a:bodyPr>
          <a:lstStyle/>
          <a:p>
            <a:pPr algn="l"/>
            <a:r>
              <a:rPr sz="1900" b="1">
                <a:solidFill>
                  <a:srgbClr val="1D3C68"/>
                </a:solidFill>
                <a:latin typeface="Aptos"/>
              </a:rPr>
              <a:t>Project Scope</a:t>
            </a:r>
          </a:p>
        </p:txBody>
      </p:sp>
      <p:cxnSp>
        <p:nvCxnSpPr>
          <p:cNvPr id="3" name="Connector 2"/>
          <p:cNvCxnSpPr/>
          <p:nvPr/>
        </p:nvCxnSpPr>
        <p:spPr>
          <a:xfrm>
            <a:off x="502920" y="749808"/>
            <a:ext cx="612648" cy="0"/>
          </a:xfrm>
          <a:prstGeom prst="line">
            <a:avLst/>
          </a:prstGeom>
          <a:ln w="27940">
            <a:solidFill>
              <a:srgbClr val="CF8F2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75320" y="283797"/>
            <a:ext cx="421870" cy="246221"/>
          </a:xfrm>
          <a:prstGeom prst="rect">
            <a:avLst/>
          </a:prstGeom>
          <a:noFill/>
        </p:spPr>
        <p:txBody>
          <a:bodyPr wrap="square" lIns="91440" tIns="45720" rIns="91440" bIns="45720" anchor="ctr">
            <a:spAutoFit/>
          </a:bodyPr>
          <a:lstStyle/>
          <a:p>
            <a:pPr algn="r"/>
            <a:r>
              <a:rPr lang="en-US" sz="1000" b="1" dirty="0">
                <a:solidFill>
                  <a:srgbClr val="5353AD"/>
                </a:solidFill>
                <a:latin typeface="Aptos"/>
              </a:rPr>
              <a:t>07</a:t>
            </a:r>
            <a:endParaRPr sz="1000" b="1" dirty="0">
              <a:solidFill>
                <a:srgbClr val="5353AD"/>
              </a:solidFill>
              <a:latin typeface="Aptos"/>
            </a:endParaRPr>
          </a:p>
        </p:txBody>
      </p:sp>
      <p:sp>
        <p:nvSpPr>
          <p:cNvPr id="5" name="Rounded Rectangle 4"/>
          <p:cNvSpPr/>
          <p:nvPr/>
        </p:nvSpPr>
        <p:spPr>
          <a:xfrm>
            <a:off x="471749" y="1348740"/>
            <a:ext cx="8219208" cy="4276898"/>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10" name="TextBox 9"/>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15</a:t>
            </a:r>
          </a:p>
        </p:txBody>
      </p:sp>
      <p:sp>
        <p:nvSpPr>
          <p:cNvPr id="11" name="TextBox 10">
            <a:extLst>
              <a:ext uri="{FF2B5EF4-FFF2-40B4-BE49-F238E27FC236}">
                <a16:creationId xmlns:a16="http://schemas.microsoft.com/office/drawing/2014/main" id="{64FE3A11-BF4C-54B0-FB6F-6261638778D5}"/>
              </a:ext>
            </a:extLst>
          </p:cNvPr>
          <p:cNvSpPr txBox="1"/>
          <p:nvPr/>
        </p:nvSpPr>
        <p:spPr>
          <a:xfrm>
            <a:off x="473927" y="864219"/>
            <a:ext cx="79591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We will focus on the core </a:t>
            </a:r>
            <a:r>
              <a:rPr lang="en-US" dirty="0" err="1"/>
              <a:t>CareLink</a:t>
            </a:r>
            <a:r>
              <a:rPr lang="en-US" dirty="0"/>
              <a:t> system and leave advanced extensions for future work</a:t>
            </a:r>
          </a:p>
        </p:txBody>
      </p:sp>
      <p:sp>
        <p:nvSpPr>
          <p:cNvPr id="13" name="TextBox 12">
            <a:extLst>
              <a:ext uri="{FF2B5EF4-FFF2-40B4-BE49-F238E27FC236}">
                <a16:creationId xmlns:a16="http://schemas.microsoft.com/office/drawing/2014/main" id="{34A48168-A3DC-B0E0-90C3-68BCFA15B8E1}"/>
              </a:ext>
            </a:extLst>
          </p:cNvPr>
          <p:cNvSpPr txBox="1"/>
          <p:nvPr/>
        </p:nvSpPr>
        <p:spPr>
          <a:xfrm>
            <a:off x="710890" y="1644805"/>
            <a:ext cx="7708280"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In Scope (must implement for MVP):</a:t>
            </a:r>
            <a:endParaRPr lang="en-US" dirty="0"/>
          </a:p>
          <a:p>
            <a:endParaRPr lang="en-US" b="1" dirty="0"/>
          </a:p>
          <a:p>
            <a:pPr marL="285750" indent="-285750">
              <a:buChar char="•"/>
            </a:pPr>
            <a:r>
              <a:rPr lang="en-US" dirty="0"/>
              <a:t>Patient profile and medication database. </a:t>
            </a:r>
          </a:p>
          <a:p>
            <a:pPr marL="285750" indent="-285750">
              <a:buChar char="•"/>
            </a:pPr>
            <a:r>
              <a:rPr lang="en-US" dirty="0"/>
              <a:t>Recording of medication intake/miss events (manual log or via simple interface). </a:t>
            </a:r>
          </a:p>
          <a:p>
            <a:pPr marL="285750" indent="-285750">
              <a:buChar char="•"/>
            </a:pPr>
            <a:r>
              <a:rPr lang="en-US" dirty="0"/>
              <a:t>A basic ML model (e.g. logistic regression or decision tree) predicting short-term non-adherence risk, trained on available data or synthesized scenarios. </a:t>
            </a:r>
            <a:endParaRPr lang="en-US"/>
          </a:p>
          <a:p>
            <a:pPr marL="285750" indent="-285750">
              <a:buChar char="•"/>
            </a:pPr>
            <a:r>
              <a:rPr lang="en-US" dirty="0"/>
              <a:t>An intervention policy engine: if risk exceeds thresholds, trigger reminders or caregiver alerts. Web dashboards for patient (to view schedule and adherence), and caregiver (to see alerts and patient summary). </a:t>
            </a:r>
          </a:p>
          <a:p>
            <a:pPr marL="285750" indent="-285750">
              <a:buChar char="•"/>
            </a:pPr>
            <a:r>
              <a:rPr lang="en-US" dirty="0"/>
              <a:t>Explainability: the system should log reasons for any alert (e.g. “3 missed doses in past week”) for the user to review. </a:t>
            </a:r>
            <a:endParaRPr lang="en-US"/>
          </a:p>
          <a:p>
            <a:pPr marL="285750" indent="-285750">
              <a:buChar char="•"/>
            </a:pPr>
            <a:r>
              <a:rPr lang="en-US" dirty="0"/>
              <a:t>Privacy/safety: implement user authentication and ensure that the AI agent cannot auto-change data without human action.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7DC424ED-EEC3-EB74-5F44-9D61A4C13B8F}"/>
              </a:ext>
            </a:extLst>
          </p:cNvPr>
          <p:cNvSpPr/>
          <p:nvPr/>
        </p:nvSpPr>
        <p:spPr>
          <a:xfrm>
            <a:off x="461358" y="216131"/>
            <a:ext cx="8219208" cy="2229890"/>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046C5A4E-8FFA-C40F-FC73-D64A78FBDDBD}"/>
              </a:ext>
            </a:extLst>
          </p:cNvPr>
          <p:cNvSpPr txBox="1"/>
          <p:nvPr/>
        </p:nvSpPr>
        <p:spPr>
          <a:xfrm>
            <a:off x="780838" y="483811"/>
            <a:ext cx="756889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Extended features (if time allows): </a:t>
            </a:r>
          </a:p>
          <a:p>
            <a:endParaRPr lang="en-US" b="1" dirty="0"/>
          </a:p>
          <a:p>
            <a:pPr marL="285750" indent="-285750">
              <a:buChar char="•"/>
            </a:pPr>
            <a:r>
              <a:rPr lang="en-US" dirty="0"/>
              <a:t>A more advanced ML model (e.g. a small Transformer or ensemble) using simulated multi-day patterns. </a:t>
            </a:r>
          </a:p>
          <a:p>
            <a:pPr marL="285750" indent="-285750">
              <a:buChar char="•"/>
            </a:pPr>
            <a:r>
              <a:rPr lang="en-US" dirty="0"/>
              <a:t>Message scheduling logic (e.g. escalation to phone call if text is ignored).</a:t>
            </a:r>
          </a:p>
          <a:p>
            <a:pPr marL="285750" indent="-285750">
              <a:buChar char="•"/>
            </a:pPr>
            <a:r>
              <a:rPr lang="en-US" dirty="0"/>
              <a:t>Integration with one wearable API (e.g. a generic health watch API) for basic alerts (heart rate/steps as compliance check). </a:t>
            </a:r>
          </a:p>
          <a:p>
            <a:pPr marL="285750" indent="-285750">
              <a:buChar char="•"/>
            </a:pPr>
            <a:r>
              <a:rPr lang="en-US" dirty="0"/>
              <a:t>Additional interface polish (responsive design, notification service). </a:t>
            </a:r>
            <a:endParaRPr lang="en-US"/>
          </a:p>
        </p:txBody>
      </p:sp>
      <p:sp>
        <p:nvSpPr>
          <p:cNvPr id="7" name="Rounded Rectangle 4">
            <a:extLst>
              <a:ext uri="{FF2B5EF4-FFF2-40B4-BE49-F238E27FC236}">
                <a16:creationId xmlns:a16="http://schemas.microsoft.com/office/drawing/2014/main" id="{169F8741-8BF5-8B7E-84E5-8D4F75A9F8AA}"/>
              </a:ext>
            </a:extLst>
          </p:cNvPr>
          <p:cNvSpPr/>
          <p:nvPr/>
        </p:nvSpPr>
        <p:spPr>
          <a:xfrm>
            <a:off x="461357" y="2720339"/>
            <a:ext cx="8219208" cy="2105199"/>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ECB71849-DA77-8317-86DE-D7E5BA3EB181}"/>
              </a:ext>
            </a:extLst>
          </p:cNvPr>
          <p:cNvSpPr txBox="1"/>
          <p:nvPr/>
        </p:nvSpPr>
        <p:spPr>
          <a:xfrm>
            <a:off x="631057" y="2973827"/>
            <a:ext cx="7875548"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Out of Scope / Future Work: </a:t>
            </a:r>
          </a:p>
          <a:p>
            <a:endParaRPr lang="en-US" b="1" dirty="0"/>
          </a:p>
          <a:p>
            <a:pPr marL="285750" indent="-285750">
              <a:buChar char="•"/>
            </a:pPr>
            <a:r>
              <a:rPr lang="en-US" dirty="0"/>
              <a:t>Full integration with hospital EHR or pharmacy systems. </a:t>
            </a:r>
          </a:p>
          <a:p>
            <a:pPr marL="285750" indent="-285750">
              <a:buChar char="•"/>
            </a:pPr>
            <a:r>
              <a:rPr lang="en-US" dirty="0"/>
              <a:t>Voice assistants or natural-language chatbot for patients (beyond basic prompts). </a:t>
            </a:r>
            <a:endParaRPr lang="en-US"/>
          </a:p>
          <a:p>
            <a:pPr marL="285750" indent="-285750">
              <a:buChar char="•"/>
            </a:pPr>
            <a:r>
              <a:rPr lang="en-US" dirty="0"/>
              <a:t>Any clinical trial or deployment with real patients without IRB approval.</a:t>
            </a:r>
          </a:p>
          <a:p>
            <a:pPr marL="285750" indent="-285750">
              <a:buChar char="•"/>
            </a:pPr>
            <a:r>
              <a:rPr lang="en-US" dirty="0"/>
              <a:t> Advanced biosensors or novel hardware (like smart pillboxes) – we’ll only use off-the-shelf devices if easy to integrate. </a:t>
            </a:r>
            <a:endParaRPr lang="en-US"/>
          </a:p>
        </p:txBody>
      </p:sp>
      <p:sp>
        <p:nvSpPr>
          <p:cNvPr id="9" name="TextBox 8">
            <a:extLst>
              <a:ext uri="{FF2B5EF4-FFF2-40B4-BE49-F238E27FC236}">
                <a16:creationId xmlns:a16="http://schemas.microsoft.com/office/drawing/2014/main" id="{BD25FD22-8BBF-A2DC-E848-CB2B321362E1}"/>
              </a:ext>
            </a:extLst>
          </p:cNvPr>
          <p:cNvSpPr txBox="1"/>
          <p:nvPr/>
        </p:nvSpPr>
        <p:spPr>
          <a:xfrm>
            <a:off x="641956" y="5048714"/>
            <a:ext cx="784665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This narrowed scope ensures we build a working prototype of the intelligent care-coordination workflow within our 2-semester timeline, rather than an overambitious full product. </a:t>
            </a:r>
          </a:p>
        </p:txBody>
      </p:sp>
    </p:spTree>
    <p:extLst>
      <p:ext uri="{BB962C8B-B14F-4D97-AF65-F5344CB8AC3E}">
        <p14:creationId xmlns:p14="http://schemas.microsoft.com/office/powerpoint/2010/main" val="3004385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cxnSp>
        <p:nvCxnSpPr>
          <p:cNvPr id="2" name="Connector 1"/>
          <p:cNvCxnSpPr/>
          <p:nvPr/>
        </p:nvCxnSpPr>
        <p:spPr>
          <a:xfrm>
            <a:off x="777240" y="4005072"/>
            <a:ext cx="548640" cy="0"/>
          </a:xfrm>
          <a:prstGeom prst="line">
            <a:avLst/>
          </a:prstGeom>
          <a:ln w="33020">
            <a:solidFill>
              <a:srgbClr val="CF8F27"/>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777240" y="4224528"/>
            <a:ext cx="7498079" cy="658368"/>
          </a:xfrm>
          <a:prstGeom prst="rect">
            <a:avLst/>
          </a:prstGeom>
          <a:noFill/>
        </p:spPr>
        <p:txBody>
          <a:bodyPr wrap="none" anchor="ctr">
            <a:spAutoFit/>
          </a:bodyPr>
          <a:lstStyle/>
          <a:p>
            <a:pPr algn="l"/>
            <a:r>
              <a:rPr sz="2200" b="1">
                <a:solidFill>
                  <a:srgbClr val="1D3C68"/>
                </a:solidFill>
                <a:latin typeface="Aptos"/>
              </a:rPr>
              <a:t>CONSTRAINTS AND LIMITATIONS</a:t>
            </a:r>
          </a:p>
        </p:txBody>
      </p:sp>
      <p:sp>
        <p:nvSpPr>
          <p:cNvPr id="4" name="TextBox 3"/>
          <p:cNvSpPr txBox="1"/>
          <p:nvPr/>
        </p:nvSpPr>
        <p:spPr>
          <a:xfrm>
            <a:off x="7998516" y="4311729"/>
            <a:ext cx="322524" cy="246221"/>
          </a:xfrm>
          <a:prstGeom prst="rect">
            <a:avLst/>
          </a:prstGeom>
          <a:noFill/>
        </p:spPr>
        <p:txBody>
          <a:bodyPr wrap="none" lIns="91440" tIns="45720" rIns="91440" bIns="45720" anchor="ctr">
            <a:spAutoFit/>
          </a:bodyPr>
          <a:lstStyle/>
          <a:p>
            <a:pPr algn="r"/>
            <a:r>
              <a:rPr lang="en-US" sz="1000" b="1" dirty="0">
                <a:solidFill>
                  <a:srgbClr val="5353AD"/>
                </a:solidFill>
                <a:latin typeface="Aptos"/>
              </a:rPr>
              <a:t>08</a:t>
            </a:r>
            <a:endParaRPr sz="1000" b="1" dirty="0">
              <a:solidFill>
                <a:srgbClr val="5353AD"/>
              </a:solidFill>
              <a:latin typeface="Aptos"/>
            </a:endParaRPr>
          </a:p>
        </p:txBody>
      </p:sp>
      <p:sp>
        <p:nvSpPr>
          <p:cNvPr id="5" name="TextBox 4"/>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6" name="TextBox 5"/>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16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2" name="TextBox 1"/>
          <p:cNvSpPr txBox="1"/>
          <p:nvPr/>
        </p:nvSpPr>
        <p:spPr>
          <a:xfrm>
            <a:off x="502920" y="246888"/>
            <a:ext cx="7132320" cy="411480"/>
          </a:xfrm>
          <a:prstGeom prst="rect">
            <a:avLst/>
          </a:prstGeom>
          <a:noFill/>
        </p:spPr>
        <p:txBody>
          <a:bodyPr wrap="none" anchor="ctr">
            <a:spAutoFit/>
          </a:bodyPr>
          <a:lstStyle/>
          <a:p>
            <a:pPr algn="l"/>
            <a:r>
              <a:rPr sz="1900" b="1">
                <a:solidFill>
                  <a:srgbClr val="1D3C68"/>
                </a:solidFill>
                <a:latin typeface="Aptos"/>
              </a:rPr>
              <a:t>Constraints and Limitations</a:t>
            </a:r>
          </a:p>
        </p:txBody>
      </p:sp>
      <p:cxnSp>
        <p:nvCxnSpPr>
          <p:cNvPr id="3" name="Connector 2"/>
          <p:cNvCxnSpPr/>
          <p:nvPr/>
        </p:nvCxnSpPr>
        <p:spPr>
          <a:xfrm>
            <a:off x="502920" y="749808"/>
            <a:ext cx="612648" cy="0"/>
          </a:xfrm>
          <a:prstGeom prst="line">
            <a:avLst/>
          </a:prstGeom>
          <a:ln w="27940">
            <a:solidFill>
              <a:srgbClr val="CF8F27"/>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75320" y="283797"/>
            <a:ext cx="421870" cy="246221"/>
          </a:xfrm>
          <a:prstGeom prst="rect">
            <a:avLst/>
          </a:prstGeom>
          <a:noFill/>
        </p:spPr>
        <p:txBody>
          <a:bodyPr wrap="square" lIns="91440" tIns="45720" rIns="91440" bIns="45720" anchor="ctr">
            <a:spAutoFit/>
          </a:bodyPr>
          <a:lstStyle/>
          <a:p>
            <a:pPr algn="r"/>
            <a:r>
              <a:rPr lang="en-US" sz="1000" b="1" dirty="0">
                <a:solidFill>
                  <a:srgbClr val="5353AD"/>
                </a:solidFill>
                <a:latin typeface="Aptos"/>
              </a:rPr>
              <a:t>08</a:t>
            </a:r>
            <a:endParaRPr sz="1000" b="1" dirty="0">
              <a:solidFill>
                <a:srgbClr val="5353AD"/>
              </a:solidFill>
              <a:latin typeface="Aptos"/>
            </a:endParaRPr>
          </a:p>
        </p:txBody>
      </p:sp>
      <p:sp>
        <p:nvSpPr>
          <p:cNvPr id="5" name="Rounded Rectangle 4"/>
          <p:cNvSpPr/>
          <p:nvPr/>
        </p:nvSpPr>
        <p:spPr>
          <a:xfrm>
            <a:off x="502920" y="1024544"/>
            <a:ext cx="3886200" cy="2115590"/>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763193" y="1024544"/>
            <a:ext cx="3917372" cy="2115590"/>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8" name="TextBox 7"/>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17</a:t>
            </a:r>
          </a:p>
        </p:txBody>
      </p:sp>
      <p:sp>
        <p:nvSpPr>
          <p:cNvPr id="9" name="TextBox 8">
            <a:extLst>
              <a:ext uri="{FF2B5EF4-FFF2-40B4-BE49-F238E27FC236}">
                <a16:creationId xmlns:a16="http://schemas.microsoft.com/office/drawing/2014/main" id="{27F6E18B-03A6-72A8-54EF-1183C2303FC5}"/>
              </a:ext>
            </a:extLst>
          </p:cNvPr>
          <p:cNvSpPr txBox="1"/>
          <p:nvPr/>
        </p:nvSpPr>
        <p:spPr>
          <a:xfrm>
            <a:off x="777290" y="1180002"/>
            <a:ext cx="3345365"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Data availability:</a:t>
            </a:r>
            <a:endParaRPr lang="en-US" b="1"/>
          </a:p>
          <a:p>
            <a:endParaRPr lang="en-US" b="1" dirty="0"/>
          </a:p>
          <a:p>
            <a:r>
              <a:rPr lang="en-US" dirty="0"/>
              <a:t>We cannot use real patient data (privacy/IRB), so we will rely on synthetic data, open datasets (if any for adherence), or hand-generated examples. This limits the realism of model training.</a:t>
            </a:r>
          </a:p>
        </p:txBody>
      </p:sp>
      <p:sp>
        <p:nvSpPr>
          <p:cNvPr id="10" name="TextBox 9">
            <a:extLst>
              <a:ext uri="{FF2B5EF4-FFF2-40B4-BE49-F238E27FC236}">
                <a16:creationId xmlns:a16="http://schemas.microsoft.com/office/drawing/2014/main" id="{4FEF8C3B-DADA-6820-5B13-4CD462F2D481}"/>
              </a:ext>
            </a:extLst>
          </p:cNvPr>
          <p:cNvSpPr txBox="1"/>
          <p:nvPr/>
        </p:nvSpPr>
        <p:spPr>
          <a:xfrm>
            <a:off x="4933653" y="1180001"/>
            <a:ext cx="3345365"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Time/team size:</a:t>
            </a:r>
          </a:p>
          <a:p>
            <a:endParaRPr lang="en-US" b="1" dirty="0"/>
          </a:p>
          <a:p>
            <a:r>
              <a:rPr lang="en-US" dirty="0"/>
              <a:t>With three students over 8 months, we must prioritize: the full AI agent pipeline is our focus, while non-essential features (e.g. extensive wearable support) are lower priority. </a:t>
            </a:r>
          </a:p>
        </p:txBody>
      </p:sp>
      <p:sp>
        <p:nvSpPr>
          <p:cNvPr id="14" name="Rounded Rectangle 4">
            <a:extLst>
              <a:ext uri="{FF2B5EF4-FFF2-40B4-BE49-F238E27FC236}">
                <a16:creationId xmlns:a16="http://schemas.microsoft.com/office/drawing/2014/main" id="{66CE7913-31FF-DE4E-A714-3276AC7EFAE5}"/>
              </a:ext>
            </a:extLst>
          </p:cNvPr>
          <p:cNvSpPr/>
          <p:nvPr/>
        </p:nvSpPr>
        <p:spPr>
          <a:xfrm>
            <a:off x="502919" y="3611880"/>
            <a:ext cx="3886200" cy="2115590"/>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5E83A6C1-7B83-9074-B921-2F040A189047}"/>
              </a:ext>
            </a:extLst>
          </p:cNvPr>
          <p:cNvSpPr txBox="1"/>
          <p:nvPr/>
        </p:nvSpPr>
        <p:spPr>
          <a:xfrm>
            <a:off x="808462" y="3767338"/>
            <a:ext cx="3345365"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Ethical / privacy:</a:t>
            </a:r>
          </a:p>
          <a:p>
            <a:endParaRPr lang="en-US" b="1" dirty="0"/>
          </a:p>
          <a:p>
            <a:r>
              <a:rPr lang="en-US" dirty="0"/>
              <a:t>Storing health info even in a prototype demands care. We will keep any personally identifiable info minimal and secure, and clearly not share data externally.</a:t>
            </a:r>
          </a:p>
        </p:txBody>
      </p:sp>
      <p:sp>
        <p:nvSpPr>
          <p:cNvPr id="16" name="Rounded Rectangle 4">
            <a:extLst>
              <a:ext uri="{FF2B5EF4-FFF2-40B4-BE49-F238E27FC236}">
                <a16:creationId xmlns:a16="http://schemas.microsoft.com/office/drawing/2014/main" id="{12CEE30C-DF08-AB28-A09A-8358232B627A}"/>
              </a:ext>
            </a:extLst>
          </p:cNvPr>
          <p:cNvSpPr/>
          <p:nvPr/>
        </p:nvSpPr>
        <p:spPr>
          <a:xfrm>
            <a:off x="4856709" y="3601488"/>
            <a:ext cx="3886200" cy="2115590"/>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4A8AE324-3574-38EF-D9AF-9651D5F0B086}"/>
              </a:ext>
            </a:extLst>
          </p:cNvPr>
          <p:cNvSpPr txBox="1"/>
          <p:nvPr/>
        </p:nvSpPr>
        <p:spPr>
          <a:xfrm>
            <a:off x="5162252" y="3756946"/>
            <a:ext cx="3345365"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Technical:</a:t>
            </a:r>
          </a:p>
          <a:p>
            <a:endParaRPr lang="en-US" b="1" dirty="0"/>
          </a:p>
          <a:p>
            <a:r>
              <a:rPr lang="en-US" dirty="0"/>
              <a:t>On-device (mobile) implementation is complex, so we will likely make a responsive web app rather than native mobile. We also assume users have basic internet-enabled devices.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F8A07B77-1E18-8761-587C-CE323F3F8506}"/>
              </a:ext>
            </a:extLst>
          </p:cNvPr>
          <p:cNvSpPr/>
          <p:nvPr/>
        </p:nvSpPr>
        <p:spPr>
          <a:xfrm>
            <a:off x="347056" y="795944"/>
            <a:ext cx="3886200" cy="3227417"/>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5">
            <a:extLst>
              <a:ext uri="{FF2B5EF4-FFF2-40B4-BE49-F238E27FC236}">
                <a16:creationId xmlns:a16="http://schemas.microsoft.com/office/drawing/2014/main" id="{6B986EA9-2840-FEA3-A34D-9BC16CCFF233}"/>
              </a:ext>
            </a:extLst>
          </p:cNvPr>
          <p:cNvSpPr/>
          <p:nvPr/>
        </p:nvSpPr>
        <p:spPr>
          <a:xfrm>
            <a:off x="4763193" y="795944"/>
            <a:ext cx="3917372" cy="3227417"/>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F98F9239-C36E-BDFF-DB48-2E1AB78FF806}"/>
              </a:ext>
            </a:extLst>
          </p:cNvPr>
          <p:cNvSpPr txBox="1"/>
          <p:nvPr/>
        </p:nvSpPr>
        <p:spPr>
          <a:xfrm>
            <a:off x="777290" y="1180002"/>
            <a:ext cx="3345365"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Accuracy / Validation:</a:t>
            </a:r>
          </a:p>
          <a:p>
            <a:endParaRPr lang="en-US" b="1" dirty="0"/>
          </a:p>
          <a:p>
            <a:r>
              <a:rPr lang="en-US" dirty="0"/>
              <a:t>Our adherence-prediction model will have limited testing data, so its accuracy may be modest. We acknowledge we are not claiming production-quality.</a:t>
            </a:r>
          </a:p>
        </p:txBody>
      </p:sp>
      <p:sp>
        <p:nvSpPr>
          <p:cNvPr id="11" name="TextBox 10">
            <a:extLst>
              <a:ext uri="{FF2B5EF4-FFF2-40B4-BE49-F238E27FC236}">
                <a16:creationId xmlns:a16="http://schemas.microsoft.com/office/drawing/2014/main" id="{F04F24E5-8DEE-C157-ACA0-94E980449CB7}"/>
              </a:ext>
            </a:extLst>
          </p:cNvPr>
          <p:cNvSpPr txBox="1"/>
          <p:nvPr/>
        </p:nvSpPr>
        <p:spPr>
          <a:xfrm>
            <a:off x="4933653" y="1180001"/>
            <a:ext cx="3345365"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Generalizability:</a:t>
            </a:r>
          </a:p>
          <a:p>
            <a:endParaRPr lang="en-US" b="1" dirty="0"/>
          </a:p>
          <a:p>
            <a:r>
              <a:rPr lang="en-US" dirty="0"/>
              <a:t>The system will be demoed with generic scenarios. Its performance on a wide population (varied diseases, cultures) is not evaluated. We’ll note this as future work.</a:t>
            </a:r>
          </a:p>
        </p:txBody>
      </p:sp>
    </p:spTree>
    <p:extLst>
      <p:ext uri="{BB962C8B-B14F-4D97-AF65-F5344CB8AC3E}">
        <p14:creationId xmlns:p14="http://schemas.microsoft.com/office/powerpoint/2010/main" val="1358732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Connector 1">
            <a:extLst>
              <a:ext uri="{FF2B5EF4-FFF2-40B4-BE49-F238E27FC236}">
                <a16:creationId xmlns:a16="http://schemas.microsoft.com/office/drawing/2014/main" id="{1F2EFBCC-C1EA-8FA7-0583-CC4D73F0CE5B}"/>
              </a:ext>
            </a:extLst>
          </p:cNvPr>
          <p:cNvCxnSpPr/>
          <p:nvPr/>
        </p:nvCxnSpPr>
        <p:spPr>
          <a:xfrm>
            <a:off x="777240" y="4005072"/>
            <a:ext cx="548640" cy="0"/>
          </a:xfrm>
          <a:prstGeom prst="line">
            <a:avLst/>
          </a:prstGeom>
          <a:ln w="33020">
            <a:solidFill>
              <a:srgbClr val="CF8F27"/>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F7BB1297-81EB-D53B-ADFE-E9E5DA99EFB6}"/>
              </a:ext>
            </a:extLst>
          </p:cNvPr>
          <p:cNvSpPr txBox="1"/>
          <p:nvPr/>
        </p:nvSpPr>
        <p:spPr>
          <a:xfrm>
            <a:off x="777240" y="4338268"/>
            <a:ext cx="4750018" cy="430887"/>
          </a:xfrm>
          <a:prstGeom prst="rect">
            <a:avLst/>
          </a:prstGeom>
          <a:noFill/>
        </p:spPr>
        <p:txBody>
          <a:bodyPr wrap="none" lIns="91440" tIns="45720" rIns="91440" bIns="45720" anchor="ctr">
            <a:spAutoFit/>
          </a:bodyPr>
          <a:lstStyle/>
          <a:p>
            <a:r>
              <a:rPr lang="en-US" sz="2200" b="1" dirty="0">
                <a:solidFill>
                  <a:srgbClr val="1D3C68"/>
                </a:solidFill>
              </a:rPr>
              <a:t>Work Breakdown Structure (WBS)</a:t>
            </a:r>
            <a:endParaRPr lang="en-US" b="1" dirty="0"/>
          </a:p>
        </p:txBody>
      </p:sp>
      <p:sp>
        <p:nvSpPr>
          <p:cNvPr id="29" name="TextBox 28">
            <a:extLst>
              <a:ext uri="{FF2B5EF4-FFF2-40B4-BE49-F238E27FC236}">
                <a16:creationId xmlns:a16="http://schemas.microsoft.com/office/drawing/2014/main" id="{B67E0AC8-CE40-8EFF-836B-8B25675494DE}"/>
              </a:ext>
            </a:extLst>
          </p:cNvPr>
          <p:cNvSpPr txBox="1"/>
          <p:nvPr/>
        </p:nvSpPr>
        <p:spPr>
          <a:xfrm>
            <a:off x="8008907" y="4301338"/>
            <a:ext cx="322524" cy="246221"/>
          </a:xfrm>
          <a:prstGeom prst="rect">
            <a:avLst/>
          </a:prstGeom>
          <a:noFill/>
        </p:spPr>
        <p:txBody>
          <a:bodyPr wrap="none" lIns="91440" tIns="45720" rIns="91440" bIns="45720" anchor="ctr">
            <a:spAutoFit/>
          </a:bodyPr>
          <a:lstStyle/>
          <a:p>
            <a:pPr algn="r"/>
            <a:r>
              <a:rPr lang="en-US" sz="1000" b="1" dirty="0">
                <a:solidFill>
                  <a:srgbClr val="5353AD"/>
                </a:solidFill>
                <a:latin typeface="Aptos"/>
              </a:rPr>
              <a:t>09</a:t>
            </a:r>
            <a:endParaRPr sz="1000" b="1" dirty="0">
              <a:solidFill>
                <a:srgbClr val="5353AD"/>
              </a:solidFill>
              <a:latin typeface="Aptos"/>
            </a:endParaRPr>
          </a:p>
        </p:txBody>
      </p:sp>
      <p:sp>
        <p:nvSpPr>
          <p:cNvPr id="31" name="TextBox 30">
            <a:extLst>
              <a:ext uri="{FF2B5EF4-FFF2-40B4-BE49-F238E27FC236}">
                <a16:creationId xmlns:a16="http://schemas.microsoft.com/office/drawing/2014/main" id="{32520B77-2310-6F66-22BD-FD80244C9E30}"/>
              </a:ext>
            </a:extLst>
          </p:cNvPr>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33" name="TextBox 32">
            <a:extLst>
              <a:ext uri="{FF2B5EF4-FFF2-40B4-BE49-F238E27FC236}">
                <a16:creationId xmlns:a16="http://schemas.microsoft.com/office/drawing/2014/main" id="{158DFDD8-C2FA-A290-6B32-357580D2E268}"/>
              </a:ext>
            </a:extLst>
          </p:cNvPr>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16</a:t>
            </a:r>
          </a:p>
        </p:txBody>
      </p:sp>
    </p:spTree>
    <p:extLst>
      <p:ext uri="{BB962C8B-B14F-4D97-AF65-F5344CB8AC3E}">
        <p14:creationId xmlns:p14="http://schemas.microsoft.com/office/powerpoint/2010/main" val="816424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9B3673-F9B0-A610-A6D8-7C9D58B843E6}"/>
              </a:ext>
            </a:extLst>
          </p:cNvPr>
          <p:cNvSpPr txBox="1"/>
          <p:nvPr/>
        </p:nvSpPr>
        <p:spPr>
          <a:xfrm>
            <a:off x="502920" y="260267"/>
            <a:ext cx="4195379" cy="384721"/>
          </a:xfrm>
          <a:prstGeom prst="rect">
            <a:avLst/>
          </a:prstGeom>
          <a:noFill/>
        </p:spPr>
        <p:txBody>
          <a:bodyPr wrap="none" lIns="91440" tIns="45720" rIns="91440" bIns="45720" anchor="ctr">
            <a:spAutoFit/>
          </a:bodyPr>
          <a:lstStyle/>
          <a:p>
            <a:r>
              <a:rPr lang="en-US" sz="1900" b="1" dirty="0">
                <a:solidFill>
                  <a:srgbClr val="1D3C68"/>
                </a:solidFill>
              </a:rPr>
              <a:t>Work Breakdown Structure (WBS) </a:t>
            </a:r>
            <a:endParaRPr lang="en-US" b="1" dirty="0"/>
          </a:p>
        </p:txBody>
      </p:sp>
      <p:cxnSp>
        <p:nvCxnSpPr>
          <p:cNvPr id="7" name="Connector 2">
            <a:extLst>
              <a:ext uri="{FF2B5EF4-FFF2-40B4-BE49-F238E27FC236}">
                <a16:creationId xmlns:a16="http://schemas.microsoft.com/office/drawing/2014/main" id="{F0EE9EB8-4F9C-0700-B4D7-837900012131}"/>
              </a:ext>
            </a:extLst>
          </p:cNvPr>
          <p:cNvCxnSpPr/>
          <p:nvPr/>
        </p:nvCxnSpPr>
        <p:spPr>
          <a:xfrm>
            <a:off x="502920" y="749808"/>
            <a:ext cx="612648" cy="0"/>
          </a:xfrm>
          <a:prstGeom prst="line">
            <a:avLst/>
          </a:prstGeom>
          <a:ln w="27940">
            <a:solidFill>
              <a:srgbClr val="CF8F27"/>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8054D8AD-F54D-9461-DB64-112B520182B9}"/>
              </a:ext>
            </a:extLst>
          </p:cNvPr>
          <p:cNvSpPr txBox="1"/>
          <p:nvPr/>
        </p:nvSpPr>
        <p:spPr>
          <a:xfrm>
            <a:off x="473927" y="864219"/>
            <a:ext cx="79591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The project will progress roughly as follows: </a:t>
            </a:r>
          </a:p>
        </p:txBody>
      </p:sp>
      <p:sp>
        <p:nvSpPr>
          <p:cNvPr id="11" name="Rounded Rectangle 4">
            <a:extLst>
              <a:ext uri="{FF2B5EF4-FFF2-40B4-BE49-F238E27FC236}">
                <a16:creationId xmlns:a16="http://schemas.microsoft.com/office/drawing/2014/main" id="{202E5634-CD30-16E6-1FB9-871D272F3B37}"/>
              </a:ext>
            </a:extLst>
          </p:cNvPr>
          <p:cNvSpPr/>
          <p:nvPr/>
        </p:nvSpPr>
        <p:spPr>
          <a:xfrm>
            <a:off x="492526" y="1450572"/>
            <a:ext cx="8229602" cy="1492135"/>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3E50AAAA-E7C9-3FAE-8A76-6ECC31C16ACE}"/>
              </a:ext>
            </a:extLst>
          </p:cNvPr>
          <p:cNvSpPr txBox="1"/>
          <p:nvPr/>
        </p:nvSpPr>
        <p:spPr>
          <a:xfrm>
            <a:off x="683012" y="1589049"/>
            <a:ext cx="794524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Planning &amp; Requirements (Month 1):</a:t>
            </a:r>
            <a:endParaRPr lang="en-US" dirty="0"/>
          </a:p>
          <a:p>
            <a:endParaRPr lang="en-US" dirty="0"/>
          </a:p>
          <a:p>
            <a:r>
              <a:rPr lang="en-US" dirty="0"/>
              <a:t>Background research (as above), finalize core features, define user stories. Obtain any needed data (e.g. synthetic dataset, medication dictionaries). Create initial UI wireframes. </a:t>
            </a:r>
            <a:endParaRPr lang="en-US"/>
          </a:p>
        </p:txBody>
      </p:sp>
      <p:sp>
        <p:nvSpPr>
          <p:cNvPr id="13" name="Rounded Rectangle 4">
            <a:extLst>
              <a:ext uri="{FF2B5EF4-FFF2-40B4-BE49-F238E27FC236}">
                <a16:creationId xmlns:a16="http://schemas.microsoft.com/office/drawing/2014/main" id="{3ABFC875-0009-AE95-2B17-FAE8DF0D5273}"/>
              </a:ext>
            </a:extLst>
          </p:cNvPr>
          <p:cNvSpPr/>
          <p:nvPr/>
        </p:nvSpPr>
        <p:spPr>
          <a:xfrm>
            <a:off x="471744" y="3424843"/>
            <a:ext cx="8250383" cy="1471354"/>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87DD162B-793B-BFD5-3F15-D103494A0401}"/>
              </a:ext>
            </a:extLst>
          </p:cNvPr>
          <p:cNvSpPr txBox="1"/>
          <p:nvPr/>
        </p:nvSpPr>
        <p:spPr>
          <a:xfrm>
            <a:off x="683012" y="3573711"/>
            <a:ext cx="7945243"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Design (Month 2): </a:t>
            </a:r>
          </a:p>
          <a:p>
            <a:endParaRPr lang="en-US" dirty="0"/>
          </a:p>
          <a:p>
            <a:r>
              <a:rPr lang="en-US" dirty="0"/>
              <a:t>Architectural design: define database schema (patients, meds, events), API endpoints, and agent logic modules. Finalize intervention policy rules in consultation with domain experts. Select ML model type and toolkit (e.g. scikit-learn). Set up development environment (Git, servers). </a:t>
            </a:r>
          </a:p>
        </p:txBody>
      </p:sp>
      <p:sp>
        <p:nvSpPr>
          <p:cNvPr id="16" name="TextBox 15">
            <a:extLst>
              <a:ext uri="{FF2B5EF4-FFF2-40B4-BE49-F238E27FC236}">
                <a16:creationId xmlns:a16="http://schemas.microsoft.com/office/drawing/2014/main" id="{67F1F15E-D87F-3228-2CEC-F8994C7B38E4}"/>
              </a:ext>
            </a:extLst>
          </p:cNvPr>
          <p:cNvSpPr txBox="1"/>
          <p:nvPr/>
        </p:nvSpPr>
        <p:spPr>
          <a:xfrm>
            <a:off x="8403762" y="259274"/>
            <a:ext cx="322524" cy="246221"/>
          </a:xfrm>
          <a:prstGeom prst="rect">
            <a:avLst/>
          </a:prstGeom>
          <a:noFill/>
        </p:spPr>
        <p:txBody>
          <a:bodyPr wrap="none" lIns="91440" tIns="45720" rIns="91440" bIns="45720" anchor="ctr">
            <a:spAutoFit/>
          </a:bodyPr>
          <a:lstStyle/>
          <a:p>
            <a:pPr algn="r"/>
            <a:r>
              <a:rPr lang="en-US" sz="1000" b="1" dirty="0">
                <a:solidFill>
                  <a:srgbClr val="5353AD"/>
                </a:solidFill>
                <a:latin typeface="Aptos"/>
              </a:rPr>
              <a:t>09</a:t>
            </a:r>
            <a:endParaRPr sz="1000" b="1" dirty="0">
              <a:solidFill>
                <a:srgbClr val="5353AD"/>
              </a:solidFill>
              <a:latin typeface="Aptos"/>
            </a:endParaRPr>
          </a:p>
        </p:txBody>
      </p:sp>
    </p:spTree>
    <p:extLst>
      <p:ext uri="{BB962C8B-B14F-4D97-AF65-F5344CB8AC3E}">
        <p14:creationId xmlns:p14="http://schemas.microsoft.com/office/powerpoint/2010/main" val="2146648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7539249F-0331-E54F-E3B4-E5DB19747E59}"/>
              </a:ext>
            </a:extLst>
          </p:cNvPr>
          <p:cNvSpPr/>
          <p:nvPr/>
        </p:nvSpPr>
        <p:spPr>
          <a:xfrm>
            <a:off x="326272" y="193273"/>
            <a:ext cx="8478983" cy="2479273"/>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228A6D6-EFCC-3E44-1EA6-4F7C84694B07}"/>
              </a:ext>
            </a:extLst>
          </p:cNvPr>
          <p:cNvSpPr txBox="1"/>
          <p:nvPr/>
        </p:nvSpPr>
        <p:spPr>
          <a:xfrm>
            <a:off x="546662" y="397135"/>
            <a:ext cx="8070695"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Development – Phase 1 (Months 3–4):</a:t>
            </a:r>
          </a:p>
          <a:p>
            <a:endParaRPr lang="en-US" dirty="0"/>
          </a:p>
          <a:p>
            <a:r>
              <a:rPr lang="en-US" dirty="0"/>
              <a:t> B</a:t>
            </a:r>
            <a:r>
              <a:rPr lang="en-US" b="1" dirty="0"/>
              <a:t>ackend &amp; Database:</a:t>
            </a:r>
            <a:r>
              <a:rPr lang="en-US" dirty="0"/>
              <a:t> Implement user authentication, patient profiles, medication schedule entry. Set up APIs for logging intake events and querying adherence history. </a:t>
            </a:r>
          </a:p>
          <a:p>
            <a:endParaRPr lang="en-US" dirty="0"/>
          </a:p>
          <a:p>
            <a:r>
              <a:rPr lang="en-US" b="1" dirty="0"/>
              <a:t>Adherence Agent (Prototype): </a:t>
            </a:r>
            <a:r>
              <a:rPr lang="en-US" dirty="0"/>
              <a:t>Collect or simulate training data; implement baseline ML model to compute an “adherence risk score” from recent history. </a:t>
            </a:r>
            <a:endParaRPr lang="en-US"/>
          </a:p>
          <a:p>
            <a:endParaRPr lang="en-US"/>
          </a:p>
          <a:p>
            <a:r>
              <a:rPr lang="en-US" b="1" dirty="0"/>
              <a:t>Intervention Engine: </a:t>
            </a:r>
            <a:r>
              <a:rPr lang="en-US" dirty="0"/>
              <a:t>Hard-code simple rules using risk score (e.g. if risk &gt; threshold then notify caregiver; else send reminder ). </a:t>
            </a:r>
          </a:p>
        </p:txBody>
      </p:sp>
      <p:sp>
        <p:nvSpPr>
          <p:cNvPr id="8" name="Rounded Rectangle 4">
            <a:extLst>
              <a:ext uri="{FF2B5EF4-FFF2-40B4-BE49-F238E27FC236}">
                <a16:creationId xmlns:a16="http://schemas.microsoft.com/office/drawing/2014/main" id="{85EFAE00-0570-38CC-6251-60771303EB73}"/>
              </a:ext>
            </a:extLst>
          </p:cNvPr>
          <p:cNvSpPr/>
          <p:nvPr/>
        </p:nvSpPr>
        <p:spPr>
          <a:xfrm>
            <a:off x="326270" y="2842954"/>
            <a:ext cx="8478983" cy="2884518"/>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900636F1-8E7A-1DFC-17E1-1913753E5706}"/>
              </a:ext>
            </a:extLst>
          </p:cNvPr>
          <p:cNvSpPr txBox="1"/>
          <p:nvPr/>
        </p:nvSpPr>
        <p:spPr>
          <a:xfrm>
            <a:off x="561361" y="3037694"/>
            <a:ext cx="7833731"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Development – Phase 2 (Months 5–6): </a:t>
            </a:r>
          </a:p>
          <a:p>
            <a:endParaRPr lang="en-US" dirty="0"/>
          </a:p>
          <a:p>
            <a:r>
              <a:rPr lang="en-US" b="1" dirty="0"/>
              <a:t>Frontend &amp; Dashboard: </a:t>
            </a:r>
            <a:r>
              <a:rPr lang="en-US" dirty="0"/>
              <a:t>Build web UI for patient (daily schedule view, check-off doses) and caregiver (alert list, patient details). Implement notification sending (SMS/email via API, or on-screen alerts). </a:t>
            </a:r>
            <a:endParaRPr lang="en-US"/>
          </a:p>
          <a:p>
            <a:endParaRPr lang="en-US" dirty="0"/>
          </a:p>
          <a:p>
            <a:r>
              <a:rPr lang="en-US" b="1" dirty="0"/>
              <a:t>Explainability: </a:t>
            </a:r>
            <a:r>
              <a:rPr lang="en-US" dirty="0"/>
              <a:t>Integrate logic to record “reason for alert” (e.g. missed-dose count). Display this reasoning text in the caregiver dashboard. </a:t>
            </a:r>
          </a:p>
          <a:p>
            <a:endParaRPr lang="en-US" b="1" dirty="0"/>
          </a:p>
          <a:p>
            <a:r>
              <a:rPr lang="en-US" b="1" dirty="0"/>
              <a:t>Testing &amp; Iteration:</a:t>
            </a:r>
            <a:r>
              <a:rPr lang="en-US" dirty="0"/>
              <a:t> Conduct unit tests and simulated scenario tests. Tweak thresholds and logic based on results. Refine UI/UX for clarity.</a:t>
            </a:r>
          </a:p>
          <a:p>
            <a:endParaRPr lang="en-US" dirty="0"/>
          </a:p>
        </p:txBody>
      </p:sp>
    </p:spTree>
    <p:extLst>
      <p:ext uri="{BB962C8B-B14F-4D97-AF65-F5344CB8AC3E}">
        <p14:creationId xmlns:p14="http://schemas.microsoft.com/office/powerpoint/2010/main" val="2040609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49C9BE6C-03F5-2FB9-D0B5-379986E6A732}"/>
              </a:ext>
            </a:extLst>
          </p:cNvPr>
          <p:cNvSpPr/>
          <p:nvPr/>
        </p:nvSpPr>
        <p:spPr>
          <a:xfrm>
            <a:off x="295098" y="328354"/>
            <a:ext cx="8478983" cy="2302626"/>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A6AAFC3-9DED-1FA1-F0E9-5555F0E2B920}"/>
              </a:ext>
            </a:extLst>
          </p:cNvPr>
          <p:cNvSpPr txBox="1"/>
          <p:nvPr/>
        </p:nvSpPr>
        <p:spPr>
          <a:xfrm>
            <a:off x="613316" y="606220"/>
            <a:ext cx="783373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Integration &amp; Testing (Month 7):</a:t>
            </a:r>
          </a:p>
          <a:p>
            <a:endParaRPr lang="en-US" dirty="0"/>
          </a:p>
          <a:p>
            <a:r>
              <a:rPr lang="en-US" dirty="0"/>
              <a:t>End-to-end tests. For example, simulate a patient over 2 weeks, verify correct alerts at each step. Identify any bugs. Possibly conduct a small “user testing” with volunteers playing patient/caregiver roles to gather feedback. </a:t>
            </a:r>
          </a:p>
          <a:p>
            <a:endParaRPr lang="en-US" dirty="0"/>
          </a:p>
        </p:txBody>
      </p:sp>
      <p:sp>
        <p:nvSpPr>
          <p:cNvPr id="7" name="Rounded Rectangle 4">
            <a:extLst>
              <a:ext uri="{FF2B5EF4-FFF2-40B4-BE49-F238E27FC236}">
                <a16:creationId xmlns:a16="http://schemas.microsoft.com/office/drawing/2014/main" id="{E4B85CD4-E9C6-9F0F-8D73-E8C03584FD69}"/>
              </a:ext>
            </a:extLst>
          </p:cNvPr>
          <p:cNvSpPr/>
          <p:nvPr/>
        </p:nvSpPr>
        <p:spPr>
          <a:xfrm>
            <a:off x="295097" y="3081945"/>
            <a:ext cx="8478983" cy="2323408"/>
          </a:xfrm>
          <a:prstGeom prst="roundRect">
            <a:avLst/>
          </a:prstGeom>
          <a:solidFill>
            <a:srgbClr val="F6F7FC"/>
          </a:solidFill>
          <a:ln w="12700">
            <a:solidFill>
              <a:srgbClr val="E0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59921E61-3F54-0A14-8250-1FA6227D4C3D}"/>
              </a:ext>
            </a:extLst>
          </p:cNvPr>
          <p:cNvSpPr txBox="1"/>
          <p:nvPr/>
        </p:nvSpPr>
        <p:spPr>
          <a:xfrm>
            <a:off x="470378" y="3529361"/>
            <a:ext cx="8196146"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Deployment &amp; Demonstration (Month 8):</a:t>
            </a:r>
          </a:p>
          <a:p>
            <a:endParaRPr lang="en-US" b="1" dirty="0"/>
          </a:p>
          <a:p>
            <a:r>
              <a:rPr lang="en-US" dirty="0"/>
              <a:t>Package the system on a server/cloud or local host. Prepare final demonstrations (video walkthrough or live demo). Write documentation (user guide, technical report) and our research paper draft summarizing methods and findings. </a:t>
            </a:r>
          </a:p>
        </p:txBody>
      </p:sp>
    </p:spTree>
    <p:extLst>
      <p:ext uri="{BB962C8B-B14F-4D97-AF65-F5344CB8AC3E}">
        <p14:creationId xmlns:p14="http://schemas.microsoft.com/office/powerpoint/2010/main" val="38541474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onnector 1">
            <a:extLst>
              <a:ext uri="{FF2B5EF4-FFF2-40B4-BE49-F238E27FC236}">
                <a16:creationId xmlns:a16="http://schemas.microsoft.com/office/drawing/2014/main" id="{BC9A883E-1947-1CAF-50E8-3F46251A90DE}"/>
              </a:ext>
            </a:extLst>
          </p:cNvPr>
          <p:cNvCxnSpPr/>
          <p:nvPr/>
        </p:nvCxnSpPr>
        <p:spPr>
          <a:xfrm>
            <a:off x="777240" y="4005072"/>
            <a:ext cx="548640" cy="0"/>
          </a:xfrm>
          <a:prstGeom prst="line">
            <a:avLst/>
          </a:prstGeom>
          <a:ln w="33020">
            <a:solidFill>
              <a:srgbClr val="CF8F27"/>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935BD9E-7697-4F21-B00F-99517E13A3C4}"/>
              </a:ext>
            </a:extLst>
          </p:cNvPr>
          <p:cNvSpPr txBox="1"/>
          <p:nvPr/>
        </p:nvSpPr>
        <p:spPr>
          <a:xfrm>
            <a:off x="777240" y="4338268"/>
            <a:ext cx="3783408" cy="430887"/>
          </a:xfrm>
          <a:prstGeom prst="rect">
            <a:avLst/>
          </a:prstGeom>
          <a:noFill/>
        </p:spPr>
        <p:txBody>
          <a:bodyPr wrap="none" lIns="91440" tIns="45720" rIns="91440" bIns="45720" anchor="ctr">
            <a:spAutoFit/>
          </a:bodyPr>
          <a:lstStyle/>
          <a:p>
            <a:r>
              <a:rPr lang="en-US" sz="2200" b="1" dirty="0">
                <a:solidFill>
                  <a:srgbClr val="1D3C68"/>
                </a:solidFill>
              </a:rPr>
              <a:t>Roles and Responsibilities</a:t>
            </a:r>
            <a:endParaRPr lang="en-US" b="1" dirty="0"/>
          </a:p>
        </p:txBody>
      </p:sp>
      <p:sp>
        <p:nvSpPr>
          <p:cNvPr id="9" name="TextBox 8">
            <a:extLst>
              <a:ext uri="{FF2B5EF4-FFF2-40B4-BE49-F238E27FC236}">
                <a16:creationId xmlns:a16="http://schemas.microsoft.com/office/drawing/2014/main" id="{5134D8B9-F8BB-E793-54A1-95711C4D2AB8}"/>
              </a:ext>
            </a:extLst>
          </p:cNvPr>
          <p:cNvSpPr txBox="1"/>
          <p:nvPr/>
        </p:nvSpPr>
        <p:spPr>
          <a:xfrm>
            <a:off x="8008907" y="4301338"/>
            <a:ext cx="322524" cy="246221"/>
          </a:xfrm>
          <a:prstGeom prst="rect">
            <a:avLst/>
          </a:prstGeom>
          <a:noFill/>
        </p:spPr>
        <p:txBody>
          <a:bodyPr wrap="none" lIns="91440" tIns="45720" rIns="91440" bIns="45720" anchor="ctr">
            <a:spAutoFit/>
          </a:bodyPr>
          <a:lstStyle/>
          <a:p>
            <a:pPr algn="r"/>
            <a:r>
              <a:rPr lang="en-US" sz="1000" b="1" dirty="0">
                <a:solidFill>
                  <a:srgbClr val="5353AD"/>
                </a:solidFill>
                <a:latin typeface="Aptos"/>
              </a:rPr>
              <a:t>10</a:t>
            </a:r>
            <a:endParaRPr lang="en-US" dirty="0"/>
          </a:p>
        </p:txBody>
      </p:sp>
      <p:sp>
        <p:nvSpPr>
          <p:cNvPr id="11" name="TextBox 10">
            <a:extLst>
              <a:ext uri="{FF2B5EF4-FFF2-40B4-BE49-F238E27FC236}">
                <a16:creationId xmlns:a16="http://schemas.microsoft.com/office/drawing/2014/main" id="{52972F53-7B6C-1D45-BF05-C3C3B557CFAA}"/>
              </a:ext>
            </a:extLst>
          </p:cNvPr>
          <p:cNvSpPr txBox="1"/>
          <p:nvPr/>
        </p:nvSpPr>
        <p:spPr>
          <a:xfrm>
            <a:off x="502920" y="6236208"/>
            <a:ext cx="1005840" cy="201168"/>
          </a:xfrm>
          <a:prstGeom prst="rect">
            <a:avLst/>
          </a:prstGeom>
          <a:noFill/>
        </p:spPr>
        <p:txBody>
          <a:bodyPr wrap="none" anchor="ctr">
            <a:spAutoFit/>
          </a:bodyPr>
          <a:lstStyle/>
          <a:p>
            <a:pPr algn="l"/>
            <a:r>
              <a:rPr sz="850" b="1">
                <a:solidFill>
                  <a:srgbClr val="64748B"/>
                </a:solidFill>
                <a:latin typeface="Aptos"/>
              </a:rPr>
              <a:t>CareLink</a:t>
            </a:r>
          </a:p>
        </p:txBody>
      </p:sp>
      <p:sp>
        <p:nvSpPr>
          <p:cNvPr id="13" name="TextBox 12">
            <a:extLst>
              <a:ext uri="{FF2B5EF4-FFF2-40B4-BE49-F238E27FC236}">
                <a16:creationId xmlns:a16="http://schemas.microsoft.com/office/drawing/2014/main" id="{2659E2F3-17D1-08A9-D1D4-C4E64B080013}"/>
              </a:ext>
            </a:extLst>
          </p:cNvPr>
          <p:cNvSpPr txBox="1"/>
          <p:nvPr/>
        </p:nvSpPr>
        <p:spPr>
          <a:xfrm>
            <a:off x="8366760" y="6236208"/>
            <a:ext cx="274320" cy="201168"/>
          </a:xfrm>
          <a:prstGeom prst="rect">
            <a:avLst/>
          </a:prstGeom>
          <a:noFill/>
        </p:spPr>
        <p:txBody>
          <a:bodyPr wrap="none" anchor="ctr">
            <a:spAutoFit/>
          </a:bodyPr>
          <a:lstStyle/>
          <a:p>
            <a:pPr algn="r"/>
            <a:r>
              <a:rPr sz="850" b="0">
                <a:solidFill>
                  <a:srgbClr val="64748B"/>
                </a:solidFill>
                <a:latin typeface="Aptos"/>
              </a:rPr>
              <a:t>16</a:t>
            </a:r>
          </a:p>
        </p:txBody>
      </p:sp>
    </p:spTree>
    <p:extLst>
      <p:ext uri="{BB962C8B-B14F-4D97-AF65-F5344CB8AC3E}">
        <p14:creationId xmlns:p14="http://schemas.microsoft.com/office/powerpoint/2010/main" val="4540662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C82D16F-38B5-0A53-2976-48AD18508033}"/>
              </a:ext>
            </a:extLst>
          </p:cNvPr>
          <p:cNvGraphicFramePr>
            <a:graphicFrameLocks noGrp="1"/>
          </p:cNvGraphicFramePr>
          <p:nvPr>
            <p:extLst>
              <p:ext uri="{D42A27DB-BD31-4B8C-83A1-F6EECF244321}">
                <p14:modId xmlns:p14="http://schemas.microsoft.com/office/powerpoint/2010/main" val="3288744982"/>
              </p:ext>
            </p:extLst>
          </p:nvPr>
        </p:nvGraphicFramePr>
        <p:xfrm>
          <a:off x="457200" y="966354"/>
          <a:ext cx="8236789" cy="3554461"/>
        </p:xfrm>
        <a:graphic>
          <a:graphicData uri="http://schemas.openxmlformats.org/drawingml/2006/table">
            <a:tbl>
              <a:tblPr firstRow="1" bandRow="1">
                <a:tableStyleId>{5C22544A-7EE6-4342-B048-85BDC9FD1C3A}</a:tableStyleId>
              </a:tblPr>
              <a:tblGrid>
                <a:gridCol w="3066585">
                  <a:extLst>
                    <a:ext uri="{9D8B030D-6E8A-4147-A177-3AD203B41FA5}">
                      <a16:colId xmlns:a16="http://schemas.microsoft.com/office/drawing/2014/main" val="1654819971"/>
                    </a:ext>
                  </a:extLst>
                </a:gridCol>
                <a:gridCol w="5170204">
                  <a:extLst>
                    <a:ext uri="{9D8B030D-6E8A-4147-A177-3AD203B41FA5}">
                      <a16:colId xmlns:a16="http://schemas.microsoft.com/office/drawing/2014/main" val="712954689"/>
                    </a:ext>
                  </a:extLst>
                </a:gridCol>
              </a:tblGrid>
              <a:tr h="549063">
                <a:tc>
                  <a:txBody>
                    <a:bodyPr/>
                    <a:lstStyle/>
                    <a:p>
                      <a:pPr lvl="0">
                        <a:buNone/>
                      </a:pPr>
                      <a:r>
                        <a:rPr lang="en-US" sz="1400" b="1" i="0" u="none" strike="noStrike" noProof="0" dirty="0">
                          <a:latin typeface="Arial"/>
                          <a:cs typeface="Arial"/>
                        </a:rPr>
                        <a:t>Team Member</a:t>
                      </a:r>
                      <a:endParaRPr lang="en-US" b="1"/>
                    </a:p>
                  </a:txBody>
                  <a:tcPr/>
                </a:tc>
                <a:tc>
                  <a:txBody>
                    <a:bodyPr/>
                    <a:lstStyle/>
                    <a:p>
                      <a:pPr lvl="0">
                        <a:buNone/>
                      </a:pPr>
                      <a:r>
                        <a:rPr lang="en-US" sz="1400" b="1" i="0" u="none" strike="noStrike" noProof="0" dirty="0"/>
                        <a:t>Roles &amp; Responsibilities</a:t>
                      </a:r>
                      <a:endParaRPr lang="en-US" b="1"/>
                    </a:p>
                  </a:txBody>
                  <a:tcPr/>
                </a:tc>
                <a:extLst>
                  <a:ext uri="{0D108BD9-81ED-4DB2-BD59-A6C34878D82A}">
                    <a16:rowId xmlns:a16="http://schemas.microsoft.com/office/drawing/2014/main" val="4243993849"/>
                  </a:ext>
                </a:extLst>
              </a:tr>
              <a:tr h="953636">
                <a:tc>
                  <a:txBody>
                    <a:bodyPr/>
                    <a:lstStyle/>
                    <a:p>
                      <a:pPr lvl="0">
                        <a:buNone/>
                      </a:pPr>
                      <a:r>
                        <a:rPr lang="en-US" sz="1400" b="0" i="0" u="none" strike="noStrike" noProof="0" dirty="0">
                          <a:latin typeface="Arial"/>
                          <a:cs typeface="Arial"/>
                        </a:rPr>
                        <a:t>Saif Majid Khan (Full-Stack) </a:t>
                      </a:r>
                      <a:endParaRPr lang="en-US" dirty="0"/>
                    </a:p>
                  </a:txBody>
                  <a:tcPr/>
                </a:tc>
                <a:tc>
                  <a:txBody>
                    <a:bodyPr/>
                    <a:lstStyle/>
                    <a:p>
                      <a:pPr lvl="0">
                        <a:buNone/>
                      </a:pPr>
                      <a:r>
                        <a:rPr lang="en-US" sz="1400" b="0" i="0" u="none" strike="noStrike" noProof="0" dirty="0">
                          <a:latin typeface="Arial"/>
                          <a:cs typeface="Arial"/>
                        </a:rPr>
                        <a:t>Lead backend and database: implement APIs, authentication, data models; integrate ML model; backend logic. </a:t>
                      </a:r>
                      <a:endParaRPr lang="en-US" dirty="0"/>
                    </a:p>
                  </a:txBody>
                  <a:tcPr/>
                </a:tc>
                <a:extLst>
                  <a:ext uri="{0D108BD9-81ED-4DB2-BD59-A6C34878D82A}">
                    <a16:rowId xmlns:a16="http://schemas.microsoft.com/office/drawing/2014/main" val="4022803565"/>
                  </a:ext>
                </a:extLst>
              </a:tr>
              <a:tr h="606859">
                <a:tc>
                  <a:txBody>
                    <a:bodyPr/>
                    <a:lstStyle/>
                    <a:p>
                      <a:pPr lvl="0">
                        <a:buNone/>
                      </a:pPr>
                      <a:r>
                        <a:rPr lang="en-US" sz="1400" b="0" i="0" u="none" strike="noStrike" noProof="0" dirty="0">
                          <a:latin typeface="Arial"/>
                          <a:cs typeface="Arial"/>
                        </a:rPr>
                        <a:t>Saleem Aman (AI/ML)</a:t>
                      </a:r>
                      <a:endParaRPr lang="en-US" dirty="0"/>
                    </a:p>
                  </a:txBody>
                  <a:tcPr/>
                </a:tc>
                <a:tc>
                  <a:txBody>
                    <a:bodyPr/>
                    <a:lstStyle/>
                    <a:p>
                      <a:pPr lvl="0">
                        <a:buNone/>
                      </a:pPr>
                      <a:r>
                        <a:rPr lang="en-US" sz="1400" b="0" i="0" u="none" strike="noStrike" noProof="0" dirty="0">
                          <a:latin typeface="Arial"/>
                          <a:cs typeface="Arial"/>
                        </a:rPr>
                        <a:t>Lead AI/ML and agents: develop predictive model, intervention logic, explainability module; test algorithms. </a:t>
                      </a:r>
                      <a:endParaRPr lang="en-US" dirty="0"/>
                    </a:p>
                  </a:txBody>
                  <a:tcPr/>
                </a:tc>
                <a:extLst>
                  <a:ext uri="{0D108BD9-81ED-4DB2-BD59-A6C34878D82A}">
                    <a16:rowId xmlns:a16="http://schemas.microsoft.com/office/drawing/2014/main" val="4104372624"/>
                  </a:ext>
                </a:extLst>
              </a:tr>
              <a:tr h="693554">
                <a:tc>
                  <a:txBody>
                    <a:bodyPr/>
                    <a:lstStyle/>
                    <a:p>
                      <a:pPr lvl="0">
                        <a:buNone/>
                      </a:pPr>
                      <a:r>
                        <a:rPr lang="en-US" dirty="0"/>
                        <a:t>Siyab Ahmad Khan </a:t>
                      </a:r>
                      <a:r>
                        <a:rPr lang="en-US" sz="1400" b="0" i="0" u="none" strike="noStrike" noProof="0" dirty="0">
                          <a:latin typeface="Arial"/>
                          <a:cs typeface="Arial"/>
                        </a:rPr>
                        <a:t>(Frontend/UI) </a:t>
                      </a:r>
                      <a:endParaRPr lang="en-US" dirty="0">
                        <a:latin typeface="Arial"/>
                        <a:cs typeface="Arial"/>
                      </a:endParaRPr>
                    </a:p>
                  </a:txBody>
                  <a:tcPr/>
                </a:tc>
                <a:tc>
                  <a:txBody>
                    <a:bodyPr/>
                    <a:lstStyle/>
                    <a:p>
                      <a:pPr lvl="0">
                        <a:buNone/>
                      </a:pPr>
                      <a:r>
                        <a:rPr lang="en-US" sz="1400" b="0" i="0" u="none" strike="noStrike" noProof="0" dirty="0">
                          <a:latin typeface="Arial"/>
                          <a:cs typeface="Arial"/>
                        </a:rPr>
                        <a:t>Design and implement user interface: patient and caregiver dashboards; handle input validation and UX flow. </a:t>
                      </a:r>
                      <a:endParaRPr lang="en-US" dirty="0"/>
                    </a:p>
                  </a:txBody>
                  <a:tcPr/>
                </a:tc>
                <a:extLst>
                  <a:ext uri="{0D108BD9-81ED-4DB2-BD59-A6C34878D82A}">
                    <a16:rowId xmlns:a16="http://schemas.microsoft.com/office/drawing/2014/main" val="4265401919"/>
                  </a:ext>
                </a:extLst>
              </a:tr>
              <a:tr h="751349">
                <a:tc>
                  <a:txBody>
                    <a:bodyPr/>
                    <a:lstStyle/>
                    <a:p>
                      <a:pPr lvl="0">
                        <a:buNone/>
                      </a:pPr>
                      <a:r>
                        <a:rPr lang="en-US" sz="1400" b="0" i="0" u="none" strike="noStrike" noProof="0" dirty="0">
                          <a:latin typeface="Arial"/>
                          <a:cs typeface="Arial"/>
                        </a:rPr>
                        <a:t>Instructor: Mr. Muhammad Usman Sharif</a:t>
                      </a:r>
                      <a:endParaRPr lang="en-US" dirty="0"/>
                    </a:p>
                  </a:txBody>
                  <a:tcPr/>
                </a:tc>
                <a:tc>
                  <a:txBody>
                    <a:bodyPr/>
                    <a:lstStyle/>
                    <a:p>
                      <a:pPr lvl="0">
                        <a:buNone/>
                      </a:pPr>
                      <a:r>
                        <a:rPr lang="en-US" sz="1400" b="0" i="0" u="none" strike="noStrike" noProof="0" dirty="0">
                          <a:latin typeface="Arial"/>
                          <a:cs typeface="Arial"/>
                        </a:rPr>
                        <a:t>Provide technical guidance, help refine research questions, ensure project scope; assist with healthcare insights and evaluation criteria. </a:t>
                      </a:r>
                      <a:endParaRPr lang="en-US" dirty="0"/>
                    </a:p>
                  </a:txBody>
                  <a:tcPr/>
                </a:tc>
                <a:extLst>
                  <a:ext uri="{0D108BD9-81ED-4DB2-BD59-A6C34878D82A}">
                    <a16:rowId xmlns:a16="http://schemas.microsoft.com/office/drawing/2014/main" val="1706637826"/>
                  </a:ext>
                </a:extLst>
              </a:tr>
            </a:tbl>
          </a:graphicData>
        </a:graphic>
      </p:graphicFrame>
      <p:sp>
        <p:nvSpPr>
          <p:cNvPr id="6" name="TextBox 5">
            <a:extLst>
              <a:ext uri="{FF2B5EF4-FFF2-40B4-BE49-F238E27FC236}">
                <a16:creationId xmlns:a16="http://schemas.microsoft.com/office/drawing/2014/main" id="{49B4F3A0-DFB4-513C-C358-BE96C6DAC1AD}"/>
              </a:ext>
            </a:extLst>
          </p:cNvPr>
          <p:cNvSpPr txBox="1"/>
          <p:nvPr/>
        </p:nvSpPr>
        <p:spPr>
          <a:xfrm>
            <a:off x="502920" y="237184"/>
            <a:ext cx="3783408" cy="430887"/>
          </a:xfrm>
          <a:prstGeom prst="rect">
            <a:avLst/>
          </a:prstGeom>
          <a:noFill/>
        </p:spPr>
        <p:txBody>
          <a:bodyPr wrap="none" lIns="91440" tIns="45720" rIns="91440" bIns="45720" anchor="ctr">
            <a:spAutoFit/>
          </a:bodyPr>
          <a:lstStyle/>
          <a:p>
            <a:r>
              <a:rPr lang="en-US" sz="2200" b="1" dirty="0">
                <a:solidFill>
                  <a:srgbClr val="1D3C68"/>
                </a:solidFill>
              </a:rPr>
              <a:t>Roles and Responsibilities</a:t>
            </a:r>
            <a:endParaRPr lang="en-US" sz="2200" dirty="0"/>
          </a:p>
        </p:txBody>
      </p:sp>
      <p:cxnSp>
        <p:nvCxnSpPr>
          <p:cNvPr id="8" name="Connector 2">
            <a:extLst>
              <a:ext uri="{FF2B5EF4-FFF2-40B4-BE49-F238E27FC236}">
                <a16:creationId xmlns:a16="http://schemas.microsoft.com/office/drawing/2014/main" id="{E86B24C9-BADC-9CE9-6A83-094D258B1A3A}"/>
              </a:ext>
            </a:extLst>
          </p:cNvPr>
          <p:cNvCxnSpPr/>
          <p:nvPr/>
        </p:nvCxnSpPr>
        <p:spPr>
          <a:xfrm>
            <a:off x="502920" y="749808"/>
            <a:ext cx="612648" cy="0"/>
          </a:xfrm>
          <a:prstGeom prst="line">
            <a:avLst/>
          </a:prstGeom>
          <a:ln w="27940">
            <a:solidFill>
              <a:srgbClr val="CF8F27"/>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91FD355-CF37-5E41-CE20-BA72CA19F211}"/>
              </a:ext>
            </a:extLst>
          </p:cNvPr>
          <p:cNvSpPr txBox="1"/>
          <p:nvPr/>
        </p:nvSpPr>
        <p:spPr>
          <a:xfrm>
            <a:off x="463537" y="4932893"/>
            <a:ext cx="823770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Each student will collaborate on overall design and testing, and documentation but these roles delineate primary focus areas. Regular team meetings will ensure integration across components. </a:t>
            </a:r>
          </a:p>
        </p:txBody>
      </p:sp>
    </p:spTree>
    <p:extLst>
      <p:ext uri="{BB962C8B-B14F-4D97-AF65-F5344CB8AC3E}">
        <p14:creationId xmlns:p14="http://schemas.microsoft.com/office/powerpoint/2010/main" val="160879242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Words>
  <Application>Microsoft Office PowerPoint</Application>
  <PresentationFormat>On-screen Show (4:3)</PresentationFormat>
  <Paragraphs>23</Paragraphs>
  <Slides>32</Slides>
  <Notes>17</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 Proposal</dc:title>
  <dc:creator>Khan</dc:creator>
  <cp:lastModifiedBy>Muhammad Aadil ur Rehman</cp:lastModifiedBy>
  <cp:revision>622</cp:revision>
  <dcterms:created xsi:type="dcterms:W3CDTF">2013-01-22T07:04:44Z</dcterms:created>
  <dcterms:modified xsi:type="dcterms:W3CDTF">2026-09-16T04:40:19Z</dcterms:modified>
</cp:coreProperties>
</file>